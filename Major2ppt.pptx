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ED2D23-C429-4D95-B3C0-1A414F753E43}" v="67" dt="2026-02-24T11:27:42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429616" y="-816419"/>
            <a:ext cx="3086100" cy="308610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59344" y="3081724"/>
            <a:ext cx="15769311" cy="202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222"/>
              </a:lnSpc>
            </a:pPr>
            <a:r>
              <a:rPr lang="en-US" sz="12302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MAJOR PROJECT-II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239412" y="5210371"/>
            <a:ext cx="14146827" cy="2115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 with Weight-Based Billing and GST Compliance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F1818D-A26C-B845-9502-C8018AA1A1B6}"/>
              </a:ext>
            </a:extLst>
          </p:cNvPr>
          <p:cNvSpPr txBox="1"/>
          <p:nvPr/>
        </p:nvSpPr>
        <p:spPr>
          <a:xfrm>
            <a:off x="304800" y="766743"/>
            <a:ext cx="1934612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JewelERP</a:t>
            </a:r>
            <a:endParaRPr lang="en-US" sz="29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332839" y="2754287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32839" y="4238788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331528" y="5143500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15137" y="6052044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8"/>
                </a:lnTo>
                <a:lnTo>
                  <a:pt x="0" y="403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15137" y="7021316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8"/>
                </a:lnTo>
                <a:lnTo>
                  <a:pt x="0" y="4037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920302" y="857250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70586" y="2611412"/>
            <a:ext cx="14615574" cy="1218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8"/>
              </a:lnSpc>
              <a:spcBef>
                <a:spcPct val="0"/>
              </a:spcBef>
            </a:pPr>
            <a:r>
              <a:rPr lang="en-US" sz="34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Title:</a:t>
            </a:r>
            <a:r>
              <a:rPr lang="en-US" sz="3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Development of a Digital </a:t>
            </a:r>
            <a:r>
              <a:rPr lang="en-US" sz="34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Jewellery</a:t>
            </a:r>
            <a:r>
              <a:rPr lang="en-US" sz="3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 System with Weight-Based Billing and GST Compliance</a:t>
            </a:r>
            <a:endParaRPr lang="en-US" sz="348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070586" y="4095913"/>
            <a:ext cx="14615574" cy="5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8"/>
              </a:lnSpc>
              <a:spcBef>
                <a:spcPct val="0"/>
              </a:spcBef>
            </a:pPr>
            <a:r>
              <a:rPr lang="en-US" sz="34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Theme:</a:t>
            </a:r>
            <a:r>
              <a:rPr lang="en-US" sz="3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India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03369" y="5000625"/>
            <a:ext cx="14615574" cy="5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8"/>
              </a:lnSpc>
              <a:spcBef>
                <a:spcPct val="0"/>
              </a:spcBef>
            </a:pPr>
            <a:r>
              <a:rPr lang="en-US" sz="34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Category:</a:t>
            </a:r>
            <a:r>
              <a:rPr lang="en-US" sz="3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Software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70586" y="5915304"/>
            <a:ext cx="14615574" cy="575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8"/>
              </a:lnSpc>
              <a:spcBef>
                <a:spcPct val="0"/>
              </a:spcBef>
            </a:pPr>
            <a:r>
              <a:rPr lang="en-US" sz="34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Name:</a:t>
            </a:r>
            <a:r>
              <a:rPr lang="en-US" sz="3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77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JewelERP</a:t>
            </a:r>
            <a:endParaRPr lang="en-US" sz="34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03369" y="6819478"/>
            <a:ext cx="14615574" cy="2460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8"/>
              </a:lnSpc>
              <a:spcBef>
                <a:spcPct val="0"/>
              </a:spcBef>
            </a:pPr>
            <a:r>
              <a:rPr lang="en-US" sz="34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Objective:</a:t>
            </a:r>
            <a:r>
              <a:rPr lang="en-US" sz="34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</a:t>
            </a:r>
            <a:r>
              <a:rPr lang="en-US" sz="3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348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Jewellery</a:t>
            </a:r>
            <a:r>
              <a:rPr lang="en-US" sz="34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 System</a:t>
            </a:r>
            <a:r>
              <a:rPr lang="en-US" sz="3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automates weight-based billing, inventory management, customer ledger tracking, and GST-compliant invoicing for wholesale </a:t>
            </a:r>
            <a:r>
              <a:rPr lang="en-US" sz="348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jewellery</a:t>
            </a:r>
            <a:r>
              <a:rPr lang="en-US" sz="34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businesses.</a:t>
            </a:r>
          </a:p>
          <a:p>
            <a:pPr algn="l">
              <a:lnSpc>
                <a:spcPts val="4868"/>
              </a:lnSpc>
              <a:spcBef>
                <a:spcPct val="0"/>
              </a:spcBef>
            </a:pPr>
            <a:endParaRPr lang="en-US" sz="34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9057" y="2563012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69057" y="3421396"/>
            <a:ext cx="14813943" cy="6103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Digital </a:t>
            </a:r>
            <a:r>
              <a:rPr lang="en-US" sz="3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Jewellery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ERP System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wholesale </a:t>
            </a:r>
            <a:r>
              <a:rPr lang="en-US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jewellery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businesses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Weight-based billing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automatic calculation of purity, wastage, and making charges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GST-compliant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invoice generation with automatic 3% tax calculation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inventory tracking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automatic stock deduction after billing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metal rate management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historical rate storage</a:t>
            </a: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ledger &amp; payment tracking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outstanding balance updates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734059" lvl="1" indent="-367030">
              <a:lnSpc>
                <a:spcPts val="4759"/>
              </a:lnSpc>
              <a:buFont typeface="Arial"/>
              <a:buChar char="•"/>
            </a:pP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dashboard </a:t>
            </a: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sales, stock, GST summary, and financial reports</a:t>
            </a:r>
            <a:endParaRPr lang="en-US" sz="34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ctr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309140" y="2420137"/>
            <a:ext cx="12126489" cy="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5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69057" y="2563012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309140" y="2420137"/>
            <a:ext cx="12126489" cy="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5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9057" y="2842906"/>
            <a:ext cx="10963806" cy="804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35"/>
              </a:lnSpc>
            </a:pPr>
            <a:endParaRPr dirty="0"/>
          </a:p>
          <a:p>
            <a:pPr marL="699500" lvl="1" indent="-349750" algn="l">
              <a:lnSpc>
                <a:spcPts val="4535"/>
              </a:lnSpc>
              <a:buFont typeface="Arial"/>
              <a:buChar char="•"/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Development</a:t>
            </a:r>
          </a:p>
          <a:p>
            <a:pPr>
              <a:lnSpc>
                <a:spcPts val="4535"/>
              </a:lnSpc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Technology: </a:t>
            </a:r>
            <a:r>
              <a:rPr lang="en-IN" sz="3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Bootstrap, JavaScript</a:t>
            </a:r>
            <a:endParaRPr lang="en-US" sz="324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699500" lvl="1" indent="-349750" algn="l">
              <a:lnSpc>
                <a:spcPts val="4535"/>
              </a:lnSpc>
              <a:buFont typeface="Arial"/>
              <a:buChar char="•"/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Development</a:t>
            </a:r>
          </a:p>
          <a:p>
            <a:pPr algn="l">
              <a:lnSpc>
                <a:spcPts val="4535"/>
              </a:lnSpc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Technology: PHP</a:t>
            </a:r>
          </a:p>
          <a:p>
            <a:pPr marL="699500" lvl="1" indent="-349750" algn="l">
              <a:lnSpc>
                <a:spcPts val="4535"/>
              </a:lnSpc>
              <a:buFont typeface="Arial"/>
              <a:buChar char="•"/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</a:p>
          <a:p>
            <a:pPr algn="l">
              <a:lnSpc>
                <a:spcPts val="4535"/>
              </a:lnSpc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Technology: MySQL</a:t>
            </a:r>
          </a:p>
          <a:p>
            <a:pPr marL="699500" lvl="1" indent="-349750" algn="l">
              <a:lnSpc>
                <a:spcPts val="4535"/>
              </a:lnSpc>
              <a:buFont typeface="Arial"/>
              <a:buChar char="•"/>
            </a:pPr>
            <a:r>
              <a:rPr lang="en-IN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</a:t>
            </a: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lnSpc>
                <a:spcPts val="4535"/>
              </a:lnSpc>
            </a:pPr>
            <a:r>
              <a:rPr lang="en-US" sz="323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Type: </a:t>
            </a:r>
            <a:r>
              <a:rPr lang="en-IN" sz="3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endParaRPr lang="en-US" sz="324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algn="l">
              <a:lnSpc>
                <a:spcPts val="4535"/>
              </a:lnSpc>
            </a:pP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35"/>
              </a:lnSpc>
            </a:pP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35"/>
              </a:lnSpc>
            </a:pP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535"/>
              </a:lnSpc>
            </a:pP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4535"/>
              </a:lnSpc>
            </a:pPr>
            <a:endParaRPr lang="en-US" sz="323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C8BC37F0-8DBB-38EF-0BDF-D61B8E0613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5" t="10700" r="20059"/>
          <a:stretch>
            <a:fillRect/>
          </a:stretch>
        </p:blipFill>
        <p:spPr>
          <a:xfrm>
            <a:off x="10744200" y="2966731"/>
            <a:ext cx="5029200" cy="5375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9057" y="2563012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9140" y="2420137"/>
            <a:ext cx="12126489" cy="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5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Modules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9057" y="3567455"/>
            <a:ext cx="11394168" cy="52602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Security Management 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&amp; GST Configuration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Metal Rate Management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Management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Billing &amp; Jewellery Logic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&amp; Stock Management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&amp; Ledger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Module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endParaRPr lang="en-US" sz="328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B8F6C8FE-4292-ABC6-4632-8B0AD7B333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921" y="3062630"/>
            <a:ext cx="83439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9057" y="2563012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9140" y="2420137"/>
            <a:ext cx="12126489" cy="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5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&amp; Viability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69057" y="3567455"/>
            <a:ext cx="11394168" cy="467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dashboard interface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training required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financial records properly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businesses reduce manual errors and financial losses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data confidentiality and secure login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GST-compliant invoices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advanced hardware requirements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billing accuracy and stock control</a:t>
            </a:r>
            <a:endParaRPr lang="en-US" sz="328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9057" y="2563012"/>
            <a:ext cx="472437" cy="403719"/>
          </a:xfrm>
          <a:custGeom>
            <a:avLst/>
            <a:gdLst/>
            <a:ahLst/>
            <a:cxnLst/>
            <a:rect l="l" t="t" r="r" b="b"/>
            <a:pathLst>
              <a:path w="472437" h="403719">
                <a:moveTo>
                  <a:pt x="0" y="0"/>
                </a:moveTo>
                <a:lnTo>
                  <a:pt x="472437" y="0"/>
                </a:lnTo>
                <a:lnTo>
                  <a:pt x="472437" y="403719"/>
                </a:lnTo>
                <a:lnTo>
                  <a:pt x="0" y="4037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070586" y="794066"/>
            <a:ext cx="14146827" cy="1012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</a:t>
            </a:r>
            <a:r>
              <a:rPr lang="en-IN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Jewellery ERP</a:t>
            </a:r>
            <a:r>
              <a:rPr lang="en-US" sz="617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09140" y="2420137"/>
            <a:ext cx="12126489" cy="680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11"/>
              </a:lnSpc>
            </a:pPr>
            <a:r>
              <a:rPr lang="en-US" sz="357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Impacts &amp; Benefits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69057" y="3376820"/>
            <a:ext cx="10614296" cy="5246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billing speed and reduces manual errors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weight-based gold and silver calculations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IN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GST-compliant invoicing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systematic and transparent ledgers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automatic stock deduction and monitoring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stock shortages with low-stock alerts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sales and GST reports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business transparency and accountability</a:t>
            </a:r>
          </a:p>
          <a:p>
            <a:pPr marL="708045" lvl="1" indent="-354022">
              <a:lnSpc>
                <a:spcPts val="4591"/>
              </a:lnSpc>
              <a:buFont typeface="Arial"/>
              <a:buChar char="•"/>
            </a:pPr>
            <a:r>
              <a:rPr lang="en-US" sz="3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 cost-effective digital solution for wholesalers</a:t>
            </a:r>
            <a:endParaRPr lang="en-US" sz="328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-283706" y="-772820"/>
            <a:ext cx="3086100" cy="308610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18943" y="-989670"/>
            <a:ext cx="1080715" cy="2956684"/>
            <a:chOff x="0" y="0"/>
            <a:chExt cx="284633" cy="7787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529352" y="9803843"/>
            <a:ext cx="19346704" cy="821917"/>
            <a:chOff x="0" y="0"/>
            <a:chExt cx="5095428" cy="2164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095428" cy="216472"/>
            </a:xfrm>
            <a:custGeom>
              <a:avLst/>
              <a:gdLst/>
              <a:ahLst/>
              <a:cxnLst/>
              <a:rect l="l" t="t" r="r" b="b"/>
              <a:pathLst>
                <a:path w="5095428" h="216472">
                  <a:moveTo>
                    <a:pt x="20409" y="0"/>
                  </a:moveTo>
                  <a:lnTo>
                    <a:pt x="5075020" y="0"/>
                  </a:lnTo>
                  <a:cubicBezTo>
                    <a:pt x="5086291" y="0"/>
                    <a:pt x="5095428" y="9137"/>
                    <a:pt x="5095428" y="20409"/>
                  </a:cubicBezTo>
                  <a:lnTo>
                    <a:pt x="5095428" y="196063"/>
                  </a:lnTo>
                  <a:cubicBezTo>
                    <a:pt x="5095428" y="201476"/>
                    <a:pt x="5093278" y="206667"/>
                    <a:pt x="5089451" y="210494"/>
                  </a:cubicBezTo>
                  <a:cubicBezTo>
                    <a:pt x="5085623" y="214322"/>
                    <a:pt x="5080432" y="216472"/>
                    <a:pt x="5075020" y="216472"/>
                  </a:cubicBezTo>
                  <a:lnTo>
                    <a:pt x="20409" y="216472"/>
                  </a:lnTo>
                  <a:cubicBezTo>
                    <a:pt x="14996" y="216472"/>
                    <a:pt x="9805" y="214322"/>
                    <a:pt x="5978" y="210494"/>
                  </a:cubicBezTo>
                  <a:cubicBezTo>
                    <a:pt x="2150" y="206667"/>
                    <a:pt x="0" y="201476"/>
                    <a:pt x="0" y="196063"/>
                  </a:cubicBezTo>
                  <a:lnTo>
                    <a:pt x="0" y="20409"/>
                  </a:lnTo>
                  <a:cubicBezTo>
                    <a:pt x="0" y="14996"/>
                    <a:pt x="2150" y="9805"/>
                    <a:pt x="5978" y="5978"/>
                  </a:cubicBezTo>
                  <a:cubicBezTo>
                    <a:pt x="9805" y="2150"/>
                    <a:pt x="14996" y="0"/>
                    <a:pt x="20409" y="0"/>
                  </a:cubicBezTo>
                  <a:close/>
                </a:path>
              </a:pathLst>
            </a:custGeom>
            <a:solidFill>
              <a:srgbClr val="FAE7BC"/>
            </a:solidFill>
            <a:ln w="85725" cap="rnd">
              <a:solidFill>
                <a:srgbClr val="494848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095428" cy="254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7259300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4518707" y="0"/>
                </a:moveTo>
                <a:lnTo>
                  <a:pt x="0" y="0"/>
                </a:lnTo>
                <a:lnTo>
                  <a:pt x="0" y="3939864"/>
                </a:lnTo>
                <a:lnTo>
                  <a:pt x="4518707" y="3939864"/>
                </a:lnTo>
                <a:lnTo>
                  <a:pt x="451870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3486583" y="3085173"/>
            <a:ext cx="4518707" cy="3939865"/>
          </a:xfrm>
          <a:custGeom>
            <a:avLst/>
            <a:gdLst/>
            <a:ahLst/>
            <a:cxnLst/>
            <a:rect l="l" t="t" r="r" b="b"/>
            <a:pathLst>
              <a:path w="4518707" h="3939865">
                <a:moveTo>
                  <a:pt x="0" y="0"/>
                </a:moveTo>
                <a:lnTo>
                  <a:pt x="4518707" y="0"/>
                </a:lnTo>
                <a:lnTo>
                  <a:pt x="4518707" y="3939864"/>
                </a:lnTo>
                <a:lnTo>
                  <a:pt x="0" y="39398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88343" y="-989670"/>
            <a:ext cx="1080715" cy="2956684"/>
            <a:chOff x="0" y="0"/>
            <a:chExt cx="284633" cy="77871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4633" cy="778715"/>
            </a:xfrm>
            <a:custGeom>
              <a:avLst/>
              <a:gdLst/>
              <a:ahLst/>
              <a:cxnLst/>
              <a:rect l="l" t="t" r="r" b="b"/>
              <a:pathLst>
                <a:path w="284633" h="778715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294894" y="3619500"/>
            <a:ext cx="5698212" cy="1747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You!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-283706" y="-1119087"/>
            <a:ext cx="3086100" cy="3143046"/>
            <a:chOff x="0" y="-91198"/>
            <a:chExt cx="812800" cy="827798"/>
          </a:xfrm>
        </p:grpSpPr>
        <p:sp>
          <p:nvSpPr>
            <p:cNvPr id="15" name="Freeform 15"/>
            <p:cNvSpPr/>
            <p:nvPr/>
          </p:nvSpPr>
          <p:spPr>
            <a:xfrm>
              <a:off x="0" y="-91198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E7B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38100"/>
              <a:ext cx="660400" cy="774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059"/>
                </a:lnSpc>
              </a:pP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  <a:p>
              <a:pPr algn="ctr">
                <a:lnSpc>
                  <a:spcPts val="4059"/>
                </a:lnSpc>
              </a:pPr>
              <a:r>
                <a:rPr lang="en-US" sz="2899" b="1" dirty="0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JewelERP</a:t>
              </a:r>
              <a:endParaRPr lang="en-US" sz="28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341</Words>
  <Application>Microsoft Office PowerPoint</Application>
  <PresentationFormat>Custom</PresentationFormat>
  <Paragraphs>81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Profile Presentation</dc:title>
  <dc:creator>Tanisha Dale</dc:creator>
  <cp:lastModifiedBy>Tanisha Dale</cp:lastModifiedBy>
  <cp:revision>3</cp:revision>
  <dcterms:created xsi:type="dcterms:W3CDTF">2006-08-16T00:00:00Z</dcterms:created>
  <dcterms:modified xsi:type="dcterms:W3CDTF">2026-02-24T11:27:43Z</dcterms:modified>
  <dc:identifier>DAGPyb3IoY8</dc:identifier>
</cp:coreProperties>
</file>