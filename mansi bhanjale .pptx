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slideMaster+xml" PartName="/ppt/slideMasters/slideMaster1.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3.xml"/>
  <Override ContentType="application/vnd.openxmlformats-officedocument.presentationml.slide+xml" PartName="/ppt/slides/slide13.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3.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Lst>
  <p:sldSz cy="6858000" cx="12192000"/>
  <p:notesSz cx="6858000" cy="9144000"/>
  <p:defaultTextStyle>
    <a:defPPr lvl="0">
      <a:defRPr lang="en-US"/>
    </a:defPPr>
    <a:lvl1pPr defTabSz="457200" eaLnBrk="1" hangingPunct="1" latinLnBrk="0" lvl="0" marL="0" rtl="0" algn="l">
      <a:defRPr kern="1200" sz="1800">
        <a:solidFill>
          <a:schemeClr val="tx1"/>
        </a:solidFill>
        <a:latin typeface="+mn-lt"/>
        <a:ea typeface="+mn-ea"/>
        <a:cs typeface="+mn-cs"/>
      </a:defRPr>
    </a:lvl1pPr>
    <a:lvl2pPr defTabSz="457200" eaLnBrk="1" hangingPunct="1" latinLnBrk="0" lvl="1" marL="457200" rtl="0" algn="l">
      <a:defRPr kern="1200" sz="1800">
        <a:solidFill>
          <a:schemeClr val="tx1"/>
        </a:solidFill>
        <a:latin typeface="+mn-lt"/>
        <a:ea typeface="+mn-ea"/>
        <a:cs typeface="+mn-cs"/>
      </a:defRPr>
    </a:lvl2pPr>
    <a:lvl3pPr defTabSz="457200" eaLnBrk="1" hangingPunct="1" latinLnBrk="0" lvl="2" marL="914400" rtl="0" algn="l">
      <a:defRPr kern="1200" sz="1800">
        <a:solidFill>
          <a:schemeClr val="tx1"/>
        </a:solidFill>
        <a:latin typeface="+mn-lt"/>
        <a:ea typeface="+mn-ea"/>
        <a:cs typeface="+mn-cs"/>
      </a:defRPr>
    </a:lvl3pPr>
    <a:lvl4pPr defTabSz="457200" eaLnBrk="1" hangingPunct="1" latinLnBrk="0" lvl="3" marL="1371600" rtl="0" algn="l">
      <a:defRPr kern="1200" sz="1800">
        <a:solidFill>
          <a:schemeClr val="tx1"/>
        </a:solidFill>
        <a:latin typeface="+mn-lt"/>
        <a:ea typeface="+mn-ea"/>
        <a:cs typeface="+mn-cs"/>
      </a:defRPr>
    </a:lvl4pPr>
    <a:lvl5pPr defTabSz="457200" eaLnBrk="1" hangingPunct="1" latinLnBrk="0" lvl="4" marL="1828800" rtl="0" algn="l">
      <a:defRPr kern="1200" sz="1800">
        <a:solidFill>
          <a:schemeClr val="tx1"/>
        </a:solidFill>
        <a:latin typeface="+mn-lt"/>
        <a:ea typeface="+mn-ea"/>
        <a:cs typeface="+mn-cs"/>
      </a:defRPr>
    </a:lvl5pPr>
    <a:lvl6pPr defTabSz="457200" eaLnBrk="1" hangingPunct="1" latinLnBrk="0" lvl="5" marL="2286000" rtl="0" algn="l">
      <a:defRPr kern="1200" sz="1800">
        <a:solidFill>
          <a:schemeClr val="tx1"/>
        </a:solidFill>
        <a:latin typeface="+mn-lt"/>
        <a:ea typeface="+mn-ea"/>
        <a:cs typeface="+mn-cs"/>
      </a:defRPr>
    </a:lvl6pPr>
    <a:lvl7pPr defTabSz="457200" eaLnBrk="1" hangingPunct="1" latinLnBrk="0" lvl="6" marL="2743200" rtl="0" algn="l">
      <a:defRPr kern="1200" sz="1800">
        <a:solidFill>
          <a:schemeClr val="tx1"/>
        </a:solidFill>
        <a:latin typeface="+mn-lt"/>
        <a:ea typeface="+mn-ea"/>
        <a:cs typeface="+mn-cs"/>
      </a:defRPr>
    </a:lvl7pPr>
    <a:lvl8pPr defTabSz="457200" eaLnBrk="1" hangingPunct="1" latinLnBrk="0" lvl="7" marL="3200400" rtl="0" algn="l">
      <a:defRPr kern="1200" sz="1800">
        <a:solidFill>
          <a:schemeClr val="tx1"/>
        </a:solidFill>
        <a:latin typeface="+mn-lt"/>
        <a:ea typeface="+mn-ea"/>
        <a:cs typeface="+mn-cs"/>
      </a:defRPr>
    </a:lvl8pPr>
    <a:lvl9pPr defTabSz="457200" eaLnBrk="1" hangingPunct="1" latinLnBrk="0" lvl="8" marL="3657600" rtl="0" algn="l">
      <a:defRPr kern="1200" sz="1800">
        <a:solidFill>
          <a:schemeClr val="tx1"/>
        </a:solidFill>
        <a:latin typeface="+mn-lt"/>
        <a:ea typeface="+mn-ea"/>
        <a:cs typeface="+mn-cs"/>
      </a:defRPr>
    </a:lvl9pPr>
  </p:defaultTextStyle>
</p:presentation>
</file>

<file path=ppt/presProps3.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slide" Target="slides/slide16.xml"/><Relationship Id="rId11" Type="http://schemas.openxmlformats.org/officeDocument/2006/relationships/slide" Target="slides/slide7.xml"/><Relationship Id="rId10" Type="http://schemas.openxmlformats.org/officeDocument/2006/relationships/slide" Target="slides/slide6.xml"/><Relationship Id="rId21" Type="http://schemas.openxmlformats.org/officeDocument/2006/relationships/slide" Target="slides/slide17.xml"/><Relationship Id="rId13" Type="http://schemas.openxmlformats.org/officeDocument/2006/relationships/slide" Target="slides/slide9.xml"/><Relationship Id="rId12" Type="http://schemas.openxmlformats.org/officeDocument/2006/relationships/slide" Target="slides/slide8.xml"/><Relationship Id="rId1" Type="http://schemas.openxmlformats.org/officeDocument/2006/relationships/theme" Target="theme/theme1.xml"/><Relationship Id="rId2" Type="http://schemas.openxmlformats.org/officeDocument/2006/relationships/presProps" Target="presProps3.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5" Type="http://schemas.openxmlformats.org/officeDocument/2006/relationships/slide" Target="slides/slide18.xml"/><Relationship Id="rId19" Type="http://schemas.openxmlformats.org/officeDocument/2006/relationships/slide" Target="slides/slide15.xml"/><Relationship Id="rId6" Type="http://schemas.openxmlformats.org/officeDocument/2006/relationships/slide" Target="slides/slide2.xml"/><Relationship Id="rId18" Type="http://schemas.openxmlformats.org/officeDocument/2006/relationships/slide" Target="slides/slide14.xml"/><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 name="Shape 47"/>
        <p:cNvGrpSpPr/>
        <p:nvPr/>
      </p:nvGrpSpPr>
      <p:grpSpPr>
        <a:xfrm>
          <a:off x="0" y="0"/>
          <a:ext cx="0" cy="0"/>
          <a:chOff x="0" y="0"/>
          <a:chExt cx="0" cy="0"/>
        </a:xfrm>
      </p:grpSpPr>
      <p:sp>
        <p:nvSpPr>
          <p:cNvPr id="48" name="Google Shape;48;n"/>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9" name="Google Shape;49;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rtl="0">
              <a:spcBef>
                <a:spcPts val="0"/>
              </a:spcBef>
              <a:spcAft>
                <a:spcPts val="0"/>
              </a:spcAft>
              <a:buSzPts val="1100"/>
              <a:buChar char="●"/>
              <a:defRPr sz="1100"/>
            </a:lvl1pPr>
            <a:lvl2pPr indent="-298450" lvl="1" marL="914400" rtl="0">
              <a:spcBef>
                <a:spcPts val="0"/>
              </a:spcBef>
              <a:spcAft>
                <a:spcPts val="0"/>
              </a:spcAft>
              <a:buSzPts val="1100"/>
              <a:buChar char="○"/>
              <a:defRPr sz="1100"/>
            </a:lvl2pPr>
            <a:lvl3pPr indent="-298450" lvl="2" marL="1371600" rtl="0">
              <a:spcBef>
                <a:spcPts val="0"/>
              </a:spcBef>
              <a:spcAft>
                <a:spcPts val="0"/>
              </a:spcAft>
              <a:buSzPts val="1100"/>
              <a:buChar char="■"/>
              <a:defRPr sz="1100"/>
            </a:lvl3pPr>
            <a:lvl4pPr indent="-298450" lvl="3" marL="1828800" rtl="0">
              <a:spcBef>
                <a:spcPts val="0"/>
              </a:spcBef>
              <a:spcAft>
                <a:spcPts val="0"/>
              </a:spcAft>
              <a:buSzPts val="1100"/>
              <a:buChar char="●"/>
              <a:defRPr sz="1100"/>
            </a:lvl4pPr>
            <a:lvl5pPr indent="-298450" lvl="4" marL="2286000" rtl="0">
              <a:spcBef>
                <a:spcPts val="0"/>
              </a:spcBef>
              <a:spcAft>
                <a:spcPts val="0"/>
              </a:spcAft>
              <a:buSzPts val="1100"/>
              <a:buChar char="○"/>
              <a:defRPr sz="1100"/>
            </a:lvl5pPr>
            <a:lvl6pPr indent="-298450" lvl="5" marL="2743200" rtl="0">
              <a:spcBef>
                <a:spcPts val="0"/>
              </a:spcBef>
              <a:spcAft>
                <a:spcPts val="0"/>
              </a:spcAft>
              <a:buSzPts val="1100"/>
              <a:buChar char="■"/>
              <a:defRPr sz="1100"/>
            </a:lvl6pPr>
            <a:lvl7pPr indent="-298450" lvl="6" marL="3200400" rtl="0">
              <a:spcBef>
                <a:spcPts val="0"/>
              </a:spcBef>
              <a:spcAft>
                <a:spcPts val="0"/>
              </a:spcAft>
              <a:buSzPts val="1100"/>
              <a:buChar char="●"/>
              <a:defRPr sz="1100"/>
            </a:lvl7pPr>
            <a:lvl8pPr indent="-298450" lvl="7" marL="3657600" rtl="0">
              <a:spcBef>
                <a:spcPts val="0"/>
              </a:spcBef>
              <a:spcAft>
                <a:spcPts val="0"/>
              </a:spcAft>
              <a:buSzPts val="1100"/>
              <a:buChar char="○"/>
              <a:defRPr sz="1100"/>
            </a:lvl8pPr>
            <a:lvl9pPr indent="-298450" lvl="8" marL="4114800" rtl="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g7ced4fcdda5e8dd7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2" name="Google Shape;52;g7ced4fcdda5e8dd7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smtClean="0"/>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3/2/2026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42A54C80-263E-416B-A8E0-580EDEADCBDC}" type="datetimeFigureOut">
              <a:rPr lang="en-US" dirty="0"/>
              <a:t>3/2/2026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519954A3-9DFD-4C44-94BA-B95130A3BA1C}"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3/2/2026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42A54C80-263E-416B-A8E0-580EDEADCBDC}" type="datetimeFigureOut">
              <a:rPr lang="en-US" dirty="0"/>
              <a:t>3/2/2026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dirty="0"/>
              <a:pPr/>
              <a:t>3/2/2026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dirty="0"/>
              <a:pPr/>
              <a:t>3/2/2026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dirty="0"/>
              <a:pPr/>
              <a:t>3/2/2026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smtClean="0"/>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42A54C80-263E-416B-A8E0-580EDEADCBDC}" type="datetimeFigureOut">
              <a:rPr lang="en-US" dirty="0"/>
              <a:t>3/2/2026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dirty="0"/>
              <a:pPr/>
              <a:t>3/2/2026</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3/2/2026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smtClean="0"/>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3/2/2026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3/2/2026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smtClean="0"/>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3/2/2026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smtClean="0"/>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3/2/2026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dirty="0"/>
              <a:t>3/2/2026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dirty="0"/>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3/2/2026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dirty="0"/>
              <a:pPr/>
              <a:t>3/2/2026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65" r:id="rId2"/>
    <p:sldLayoutId id="2147483651" r:id="rId3"/>
    <p:sldLayoutId id="2147483666" r:id="rId4"/>
    <p:sldLayoutId id="2147483653" r:id="rId5"/>
    <p:sldLayoutId id="2147483654" r:id="rId6"/>
    <p:sldLayoutId id="2147483655" r:id="rId7"/>
    <p:sldLayoutId id="2147483667" r:id="rId8"/>
    <p:sldLayoutId id="2147483657" r:id="rId9"/>
    <p:sldLayoutId id="2147483660" r:id="rId10"/>
    <p:sldLayoutId id="2147483661" r:id="rId11"/>
    <p:sldLayoutId id="2147483662" r:id="rId12"/>
    <p:sldLayoutId id="2147483663" r:id="rId13"/>
    <p:sldLayoutId id="2147483664" r:id="rId14"/>
    <p:sldLayoutId id="2147483668" r:id="rId15"/>
    <p:sldLayoutId id="2147483659"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xml"/><Relationship Id="rId3" Type="http://schemas.openxmlformats.org/officeDocument/2006/relationships/image" Target="../media/image8.jpg"/></Relationships>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u="sng" dirty="0" smtClean="0"/>
              <a:t>WATER POLLUTION</a:t>
            </a:r>
            <a:endParaRPr lang="en-US" b="1" u="sng" dirty="0"/>
          </a:p>
        </p:txBody>
      </p:sp>
      <p:sp>
        <p:nvSpPr>
          <p:cNvPr id="3" name="Content Placeholder 2"/>
          <p:cNvSpPr>
            <a:spLocks noGrp="1"/>
          </p:cNvSpPr>
          <p:nvPr>
            <p:ph idx="1"/>
          </p:nvPr>
        </p:nvSpPr>
        <p:spPr>
          <a:xfrm>
            <a:off x="677334" y="1930400"/>
            <a:ext cx="9479037" cy="3474357"/>
          </a:xfrm>
        </p:spPr>
        <p:txBody>
          <a:bodyPr>
            <a:noAutofit/>
          </a:bodyPr>
          <a:lstStyle/>
          <a:p>
            <a:r>
              <a:rPr lang="en-US" sz="2000" b="1" i="1" dirty="0" smtClean="0"/>
              <a:t>INTRODUCTION-</a:t>
            </a:r>
          </a:p>
          <a:p>
            <a:pPr marL="0" indent="0" algn="just">
              <a:buNone/>
            </a:pPr>
            <a:r>
              <a:rPr lang="en-US" sz="2000" dirty="0"/>
              <a:t>Water pollution is the contamination or degradation of water bodies such as rivers, lakes, ponds, groundwater, and oceans due to the introduction of harmful physical, chemical, or biological substances. These pollutants may originate from industrial discharge, agricultural runoff, sewage waste, domestic garbage, oil spills, plastic waste, and other human activities. When harmful substances enter water, they alter its natural composition, reduce water quality, and make it unsafe for drinking, domestic use, agriculture, aquatic life, and other </a:t>
            </a:r>
            <a:r>
              <a:rPr lang="en-US" sz="2000" dirty="0" err="1"/>
              <a:t>purposes.Water</a:t>
            </a:r>
            <a:r>
              <a:rPr lang="en-US" sz="2000" dirty="0"/>
              <a:t> pollution can occur in different forms, including chemical pollution (like pesticides, heavy metals, and acids), biological pollution (such as bacteria, viruses, and parasites), and physical pollution (like suspended solids and plastics). It disturbs aquatic ecosystems, decreases oxygen levels in water, harms fish and other organisms, spreads water-borne diseases, and affects the overall environmental balance.</a:t>
            </a:r>
          </a:p>
        </p:txBody>
      </p:sp>
    </p:spTree>
    <p:extLst>
      <p:ext uri="{BB962C8B-B14F-4D97-AF65-F5344CB8AC3E}">
        <p14:creationId xmlns:p14="http://schemas.microsoft.com/office/powerpoint/2010/main" val="3600945534"/>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u="sng" dirty="0" smtClean="0"/>
              <a:t>TYPES OF WATER POLLUTION</a:t>
            </a:r>
            <a:endParaRPr lang="en-US" b="1" u="sng" dirty="0"/>
          </a:p>
        </p:txBody>
      </p:sp>
      <p:sp>
        <p:nvSpPr>
          <p:cNvPr id="3" name="Content Placeholder 2"/>
          <p:cNvSpPr>
            <a:spLocks noGrp="1"/>
          </p:cNvSpPr>
          <p:nvPr>
            <p:ph idx="1"/>
          </p:nvPr>
        </p:nvSpPr>
        <p:spPr>
          <a:xfrm>
            <a:off x="677333" y="2160590"/>
            <a:ext cx="4824969" cy="3524594"/>
          </a:xfrm>
        </p:spPr>
        <p:txBody>
          <a:bodyPr/>
          <a:lstStyle/>
          <a:p>
            <a:pPr>
              <a:buFont typeface="Wingdings" panose="05000000000000000000" pitchFamily="2" charset="2"/>
              <a:buChar char="q"/>
            </a:pPr>
            <a:r>
              <a:rPr lang="en-US" sz="2400" dirty="0" smtClean="0">
                <a:solidFill>
                  <a:schemeClr val="tx1"/>
                </a:solidFill>
              </a:rPr>
              <a:t>MAN MADE POLLUTION</a:t>
            </a:r>
          </a:p>
          <a:p>
            <a:endParaRPr lang="en-US" dirty="0" smtClean="0"/>
          </a:p>
          <a:p>
            <a:endParaRPr lang="en-US" dirty="0"/>
          </a:p>
          <a:p>
            <a:endParaRPr lang="en-US" dirty="0" smtClean="0"/>
          </a:p>
          <a:p>
            <a:endParaRPr lang="en-US" dirty="0"/>
          </a:p>
          <a:p>
            <a:endParaRPr lang="en-US" dirty="0" smtClean="0"/>
          </a:p>
          <a:p>
            <a:pPr marL="0" indent="0">
              <a:buNone/>
            </a:pPr>
            <a:endParaRPr lang="en-US" dirty="0" smtClean="0"/>
          </a:p>
        </p:txBody>
      </p:sp>
      <p:pic>
        <p:nvPicPr>
          <p:cNvPr id="4" name="Picture 3"/>
          <p:cNvPicPr>
            <a:picLocks noChangeAspect="1"/>
          </p:cNvPicPr>
          <p:nvPr/>
        </p:nvPicPr>
        <p:blipFill>
          <a:blip r:embed="rId2"/>
          <a:stretch>
            <a:fillRect/>
          </a:stretch>
        </p:blipFill>
        <p:spPr>
          <a:xfrm>
            <a:off x="256083" y="2724384"/>
            <a:ext cx="4362094" cy="2906023"/>
          </a:xfrm>
          <a:prstGeom prst="rect">
            <a:avLst/>
          </a:prstGeom>
        </p:spPr>
      </p:pic>
      <p:sp>
        <p:nvSpPr>
          <p:cNvPr id="5" name="TextBox 4"/>
          <p:cNvSpPr txBox="1"/>
          <p:nvPr/>
        </p:nvSpPr>
        <p:spPr>
          <a:xfrm>
            <a:off x="5502303" y="2160590"/>
            <a:ext cx="4312388" cy="738664"/>
          </a:xfrm>
          <a:prstGeom prst="rect">
            <a:avLst/>
          </a:prstGeom>
          <a:noFill/>
        </p:spPr>
        <p:txBody>
          <a:bodyPr wrap="square" rtlCol="0">
            <a:spAutoFit/>
          </a:bodyPr>
          <a:lstStyle/>
          <a:p>
            <a:r>
              <a:rPr lang="en-US" sz="2400" dirty="0" smtClean="0"/>
              <a:t>NATURAL POLLUTION</a:t>
            </a:r>
          </a:p>
          <a:p>
            <a:endParaRPr lang="en-US" dirty="0"/>
          </a:p>
        </p:txBody>
      </p:sp>
      <p:sp>
        <p:nvSpPr>
          <p:cNvPr id="6" name="AutoShape 2" descr="blob:https://web.whatsapp.com/3b3bbc41-7ce3-4b83-930f-bd46526fa886"/>
          <p:cNvSpPr>
            <a:spLocks noChangeAspect="1" noChangeArrowheads="1"/>
          </p:cNvSpPr>
          <p:nvPr/>
        </p:nvSpPr>
        <p:spPr bwMode="auto">
          <a:xfrm>
            <a:off x="141521" y="205395"/>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7" name="AutoShape 4" descr="blob:https://web.whatsapp.com/3b3bbc41-7ce3-4b83-930f-bd46526fa886"/>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8" name="Picture 7"/>
          <p:cNvPicPr>
            <a:picLocks noChangeAspect="1"/>
          </p:cNvPicPr>
          <p:nvPr/>
        </p:nvPicPr>
        <p:blipFill>
          <a:blip r:embed="rId3"/>
          <a:stretch>
            <a:fillRect/>
          </a:stretch>
        </p:blipFill>
        <p:spPr>
          <a:xfrm>
            <a:off x="4820674" y="2724384"/>
            <a:ext cx="4389762" cy="2906023"/>
          </a:xfrm>
          <a:prstGeom prst="rect">
            <a:avLst/>
          </a:prstGeom>
        </p:spPr>
      </p:pic>
    </p:spTree>
    <p:extLst>
      <p:ext uri="{BB962C8B-B14F-4D97-AF65-F5344CB8AC3E}">
        <p14:creationId xmlns:p14="http://schemas.microsoft.com/office/powerpoint/2010/main" val="2437464050"/>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u="sng" dirty="0" smtClean="0"/>
              <a:t>MAN MADE WATER POLLUTION</a:t>
            </a:r>
            <a:endParaRPr lang="en-US" b="1" u="sng" dirty="0"/>
          </a:p>
        </p:txBody>
      </p:sp>
      <p:sp>
        <p:nvSpPr>
          <p:cNvPr id="3" name="Content Placeholder 2"/>
          <p:cNvSpPr>
            <a:spLocks noGrp="1"/>
          </p:cNvSpPr>
          <p:nvPr>
            <p:ph idx="1"/>
          </p:nvPr>
        </p:nvSpPr>
        <p:spPr>
          <a:xfrm>
            <a:off x="677333" y="1638075"/>
            <a:ext cx="8825895" cy="4844368"/>
          </a:xfrm>
        </p:spPr>
        <p:txBody>
          <a:bodyPr>
            <a:noAutofit/>
          </a:bodyPr>
          <a:lstStyle/>
          <a:p>
            <a:r>
              <a:rPr lang="en-US" sz="2400" b="1" dirty="0" smtClean="0"/>
              <a:t>Industrial Discharge </a:t>
            </a:r>
            <a:r>
              <a:rPr lang="en-US" sz="2400" dirty="0" smtClean="0"/>
              <a:t>-Factories release toxic chemicals, acids, dyes, and heavy metals into nearby water bodies.</a:t>
            </a:r>
          </a:p>
          <a:p>
            <a:r>
              <a:rPr lang="en-US" sz="2400" b="1" dirty="0" smtClean="0"/>
              <a:t>Sewage and Wastewater </a:t>
            </a:r>
            <a:r>
              <a:rPr lang="en-US" sz="2400" dirty="0" smtClean="0"/>
              <a:t>-Untreated domestic sewage from homes and cities contaminates rivers and groundwater.</a:t>
            </a:r>
          </a:p>
          <a:p>
            <a:r>
              <a:rPr lang="en-US" sz="2400" b="1" dirty="0" smtClean="0"/>
              <a:t>Agricultural Activities </a:t>
            </a:r>
            <a:r>
              <a:rPr lang="en-US" sz="2400" dirty="0" smtClean="0"/>
              <a:t>-Use of chemical fertilizers, pesticides, and insecticides leads to runoff into water sources during rainfall.</a:t>
            </a:r>
          </a:p>
          <a:p>
            <a:r>
              <a:rPr lang="en-US" sz="2400" b="1" dirty="0" smtClean="0"/>
              <a:t>Oil Spills and Marine Activities </a:t>
            </a:r>
            <a:r>
              <a:rPr lang="en-US" sz="2400" dirty="0" smtClean="0"/>
              <a:t>-Oil leakage from ships and offshore drilling pollutes oceans.</a:t>
            </a:r>
          </a:p>
          <a:p>
            <a:r>
              <a:rPr lang="en-US" sz="2400" b="1" dirty="0" smtClean="0"/>
              <a:t>Plastic and Solid Waste Disposal </a:t>
            </a:r>
            <a:r>
              <a:rPr lang="en-US" sz="2400" dirty="0" smtClean="0"/>
              <a:t>-Dumping garbage into water bodies harms aquatic life and degrades water quality.</a:t>
            </a:r>
            <a:endParaRPr lang="en-US" sz="2400" dirty="0"/>
          </a:p>
        </p:txBody>
      </p:sp>
    </p:spTree>
    <p:extLst>
      <p:ext uri="{BB962C8B-B14F-4D97-AF65-F5344CB8AC3E}">
        <p14:creationId xmlns:p14="http://schemas.microsoft.com/office/powerpoint/2010/main" val="2943655866"/>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81918" y="585746"/>
            <a:ext cx="8596668" cy="1320800"/>
          </a:xfrm>
        </p:spPr>
        <p:txBody>
          <a:bodyPr/>
          <a:lstStyle/>
          <a:p>
            <a:pPr algn="ctr"/>
            <a:r>
              <a:rPr lang="en-US" b="1" u="sng" dirty="0" smtClean="0"/>
              <a:t>NATURAL WATER POLLUTION</a:t>
            </a:r>
            <a:endParaRPr lang="en-US" b="1" u="sng" dirty="0"/>
          </a:p>
        </p:txBody>
      </p:sp>
      <p:sp>
        <p:nvSpPr>
          <p:cNvPr id="3" name="Content Placeholder 2"/>
          <p:cNvSpPr>
            <a:spLocks noGrp="1"/>
          </p:cNvSpPr>
          <p:nvPr>
            <p:ph idx="1"/>
          </p:nvPr>
        </p:nvSpPr>
        <p:spPr>
          <a:xfrm>
            <a:off x="856950" y="1703390"/>
            <a:ext cx="8501252" cy="4909681"/>
          </a:xfrm>
        </p:spPr>
        <p:txBody>
          <a:bodyPr>
            <a:noAutofit/>
          </a:bodyPr>
          <a:lstStyle/>
          <a:p>
            <a:r>
              <a:rPr lang="en-US" sz="2400" b="1" dirty="0"/>
              <a:t>Soil </a:t>
            </a:r>
            <a:r>
              <a:rPr lang="en-US" sz="2400" b="1" dirty="0" smtClean="0"/>
              <a:t>Erosion </a:t>
            </a:r>
            <a:r>
              <a:rPr lang="en-US" sz="2400" dirty="0" smtClean="0"/>
              <a:t>-Heavy </a:t>
            </a:r>
            <a:r>
              <a:rPr lang="en-US" sz="2400" dirty="0"/>
              <a:t>rainfall can wash soil, sand, and minerals into rivers and lakes, making the water muddy (increasing turbidity</a:t>
            </a:r>
            <a:r>
              <a:rPr lang="en-US" sz="2400" dirty="0" smtClean="0"/>
              <a:t>).</a:t>
            </a:r>
          </a:p>
          <a:p>
            <a:r>
              <a:rPr lang="en-US" sz="2400" b="1" dirty="0" smtClean="0"/>
              <a:t>Volcanic Eruptions </a:t>
            </a:r>
            <a:r>
              <a:rPr lang="en-US" sz="2400" dirty="0" smtClean="0"/>
              <a:t>-Volcanic </a:t>
            </a:r>
            <a:r>
              <a:rPr lang="en-US" sz="2400" dirty="0"/>
              <a:t>ash, gases, and minerals can enter nearby water bodies and change their chemical composition</a:t>
            </a:r>
            <a:r>
              <a:rPr lang="en-US" sz="2400" dirty="0" smtClean="0"/>
              <a:t>.</a:t>
            </a:r>
          </a:p>
          <a:p>
            <a:r>
              <a:rPr lang="en-US" sz="2400" b="1" dirty="0" smtClean="0"/>
              <a:t>Decomposition </a:t>
            </a:r>
            <a:r>
              <a:rPr lang="en-US" sz="2400" b="1" dirty="0"/>
              <a:t>of Plants and </a:t>
            </a:r>
            <a:r>
              <a:rPr lang="en-US" sz="2400" b="1" dirty="0" smtClean="0"/>
              <a:t>Animals </a:t>
            </a:r>
            <a:r>
              <a:rPr lang="en-US" sz="2400" dirty="0" smtClean="0"/>
              <a:t>-Dead </a:t>
            </a:r>
            <a:r>
              <a:rPr lang="en-US" sz="2400" dirty="0"/>
              <a:t>plants and animals decay in water, releasing organic matter and reducing oxygen </a:t>
            </a:r>
            <a:r>
              <a:rPr lang="en-US" sz="2400" dirty="0" smtClean="0"/>
              <a:t>levels.</a:t>
            </a:r>
          </a:p>
          <a:p>
            <a:r>
              <a:rPr lang="en-US" sz="2400" b="1" dirty="0" smtClean="0"/>
              <a:t>Natural </a:t>
            </a:r>
            <a:r>
              <a:rPr lang="en-US" sz="2400" b="1" dirty="0"/>
              <a:t>Algal Growth (Algal Bloom</a:t>
            </a:r>
            <a:r>
              <a:rPr lang="en-US" sz="2400" b="1" dirty="0" smtClean="0"/>
              <a:t>)</a:t>
            </a:r>
            <a:r>
              <a:rPr lang="en-US" sz="2400" dirty="0" smtClean="0"/>
              <a:t>-Sometimes </a:t>
            </a:r>
            <a:r>
              <a:rPr lang="en-US" sz="2400" dirty="0"/>
              <a:t>algae grow excessively due to natural nutrient availability, reducing oxygen in water</a:t>
            </a:r>
            <a:r>
              <a:rPr lang="en-US" sz="2400" dirty="0" smtClean="0"/>
              <a:t>.</a:t>
            </a:r>
          </a:p>
          <a:p>
            <a:pPr marL="0" indent="0">
              <a:buNone/>
            </a:pPr>
            <a:endParaRPr lang="en-US" sz="2400" dirty="0"/>
          </a:p>
        </p:txBody>
      </p:sp>
    </p:spTree>
    <p:extLst>
      <p:ext uri="{BB962C8B-B14F-4D97-AF65-F5344CB8AC3E}">
        <p14:creationId xmlns:p14="http://schemas.microsoft.com/office/powerpoint/2010/main" val="1105618334"/>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u="sng" dirty="0" smtClean="0"/>
              <a:t>SITUATION IN INDIA</a:t>
            </a:r>
            <a:endParaRPr lang="en-US" b="1" u="sng" dirty="0"/>
          </a:p>
        </p:txBody>
      </p:sp>
      <p:sp>
        <p:nvSpPr>
          <p:cNvPr id="3" name="Content Placeholder 2"/>
          <p:cNvSpPr>
            <a:spLocks noGrp="1"/>
          </p:cNvSpPr>
          <p:nvPr>
            <p:ph idx="1"/>
          </p:nvPr>
        </p:nvSpPr>
        <p:spPr>
          <a:xfrm>
            <a:off x="677334" y="3705309"/>
            <a:ext cx="8983501" cy="2775005"/>
          </a:xfrm>
        </p:spPr>
        <p:txBody>
          <a:bodyPr>
            <a:normAutofit/>
          </a:bodyPr>
          <a:lstStyle/>
          <a:p>
            <a:r>
              <a:rPr lang="en-US" sz="1400" b="1" dirty="0" smtClean="0"/>
              <a:t>Many Rivers Are Seriously Polluted </a:t>
            </a:r>
            <a:r>
              <a:rPr lang="en-US" sz="1400" dirty="0" smtClean="0"/>
              <a:t>-A </a:t>
            </a:r>
            <a:r>
              <a:rPr lang="en-US" sz="1400" dirty="0"/>
              <a:t>report by the Central Pollution Control Board (CPCB) said that almost half (around 46 %) of India’s rivers are polluted at various stretches due to organic waste, sewage, and industrial </a:t>
            </a:r>
            <a:r>
              <a:rPr lang="en-US" sz="1400" dirty="0" smtClean="0"/>
              <a:t>effluents</a:t>
            </a:r>
          </a:p>
          <a:p>
            <a:r>
              <a:rPr lang="en-US" sz="1400" b="1" dirty="0"/>
              <a:t>Untreated Sewage and Wastewater Is a Big </a:t>
            </a:r>
            <a:r>
              <a:rPr lang="en-US" sz="1400" b="1" dirty="0" smtClean="0"/>
              <a:t>Problem </a:t>
            </a:r>
            <a:r>
              <a:rPr lang="en-US" sz="1400" dirty="0" smtClean="0"/>
              <a:t>-In </a:t>
            </a:r>
            <a:r>
              <a:rPr lang="en-US" sz="1400" dirty="0"/>
              <a:t>India, a large amount of sewage and wastewater enters water bodies without proper treatment, carrying harmful bacteria and pollutants. </a:t>
            </a:r>
            <a:endParaRPr lang="en-US" sz="1400" dirty="0" smtClean="0"/>
          </a:p>
          <a:p>
            <a:r>
              <a:rPr lang="en-US" sz="1400" b="1" dirty="0"/>
              <a:t>Groundwater Pollution Is </a:t>
            </a:r>
            <a:r>
              <a:rPr lang="en-US" sz="1400" b="1" dirty="0" smtClean="0"/>
              <a:t>Widespread </a:t>
            </a:r>
            <a:r>
              <a:rPr lang="en-US" sz="1400" dirty="0" smtClean="0"/>
              <a:t>-In </a:t>
            </a:r>
            <a:r>
              <a:rPr lang="en-US" sz="1400" dirty="0"/>
              <a:t>many regions, groundwater is contaminated with chemicals like arsenic, fluoride, nitrate, and heavy metals due to agricultural runoff, industrial discharge, and poor </a:t>
            </a:r>
            <a:r>
              <a:rPr lang="en-US" sz="1400" dirty="0" smtClean="0"/>
              <a:t>sanitation</a:t>
            </a:r>
          </a:p>
          <a:p>
            <a:r>
              <a:rPr lang="en-US" sz="1400" b="1" dirty="0"/>
              <a:t>Health and Environmental </a:t>
            </a:r>
            <a:r>
              <a:rPr lang="en-US" sz="1400" b="1" dirty="0" smtClean="0"/>
              <a:t>Consequences </a:t>
            </a:r>
            <a:r>
              <a:rPr lang="en-US" sz="1400" dirty="0" smtClean="0"/>
              <a:t>-Polluted </a:t>
            </a:r>
            <a:r>
              <a:rPr lang="en-US" sz="1400" dirty="0"/>
              <a:t>water exposes millions of people to waterborne diseases, especially in rural and urban poor communities. </a:t>
            </a:r>
          </a:p>
        </p:txBody>
      </p:sp>
      <p:pic>
        <p:nvPicPr>
          <p:cNvPr id="4" name="Picture 3"/>
          <p:cNvPicPr>
            <a:picLocks noChangeAspect="1"/>
          </p:cNvPicPr>
          <p:nvPr/>
        </p:nvPicPr>
        <p:blipFill>
          <a:blip r:embed="rId2"/>
          <a:stretch>
            <a:fillRect/>
          </a:stretch>
        </p:blipFill>
        <p:spPr>
          <a:xfrm>
            <a:off x="2949224" y="1343066"/>
            <a:ext cx="4052888" cy="2281359"/>
          </a:xfrm>
          <a:prstGeom prst="rect">
            <a:avLst/>
          </a:prstGeom>
        </p:spPr>
      </p:pic>
    </p:spTree>
    <p:extLst>
      <p:ext uri="{BB962C8B-B14F-4D97-AF65-F5344CB8AC3E}">
        <p14:creationId xmlns:p14="http://schemas.microsoft.com/office/powerpoint/2010/main" val="3100549167"/>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u="sng" dirty="0" smtClean="0"/>
              <a:t>HEATH HAZARDS</a:t>
            </a:r>
            <a:endParaRPr lang="en-US" b="1" u="sng" dirty="0"/>
          </a:p>
        </p:txBody>
      </p:sp>
      <p:sp>
        <p:nvSpPr>
          <p:cNvPr id="3" name="Content Placeholder 2"/>
          <p:cNvSpPr>
            <a:spLocks noGrp="1"/>
          </p:cNvSpPr>
          <p:nvPr>
            <p:ph idx="1"/>
          </p:nvPr>
        </p:nvSpPr>
        <p:spPr>
          <a:xfrm>
            <a:off x="677334" y="2104931"/>
            <a:ext cx="8596668" cy="980176"/>
          </a:xfrm>
        </p:spPr>
        <p:txBody>
          <a:bodyPr>
            <a:noAutofit/>
          </a:bodyPr>
          <a:lstStyle/>
          <a:p>
            <a:r>
              <a:rPr lang="en-US" sz="2400" dirty="0"/>
              <a:t>Water pollution causes serious health problems when contaminated water is used for drinking, cooking, bathing, or irrigation. The harmful effects can be short-term or long-term</a:t>
            </a:r>
            <a:r>
              <a:rPr lang="en-US" sz="2400" dirty="0" smtClean="0"/>
              <a:t>.</a:t>
            </a:r>
          </a:p>
          <a:p>
            <a:r>
              <a:rPr lang="en-US" sz="2400" b="1" dirty="0" smtClean="0"/>
              <a:t>TYPES</a:t>
            </a:r>
          </a:p>
          <a:p>
            <a:pPr marL="457200" indent="-457200">
              <a:buFont typeface="+mj-lt"/>
              <a:buAutoNum type="arabicPeriod"/>
            </a:pPr>
            <a:r>
              <a:rPr lang="en-US" sz="2400" dirty="0" smtClean="0"/>
              <a:t>BIOLOGICAL</a:t>
            </a:r>
          </a:p>
          <a:p>
            <a:pPr marL="457200" indent="-457200">
              <a:buFont typeface="+mj-lt"/>
              <a:buAutoNum type="arabicPeriod"/>
            </a:pPr>
            <a:r>
              <a:rPr lang="en-US" sz="2400" dirty="0" smtClean="0"/>
              <a:t>CHEMICAL</a:t>
            </a:r>
          </a:p>
        </p:txBody>
      </p:sp>
      <p:pic>
        <p:nvPicPr>
          <p:cNvPr id="5" name="Picture 4"/>
          <p:cNvPicPr>
            <a:picLocks noChangeAspect="1"/>
          </p:cNvPicPr>
          <p:nvPr/>
        </p:nvPicPr>
        <p:blipFill>
          <a:blip r:embed="rId2"/>
          <a:stretch>
            <a:fillRect/>
          </a:stretch>
        </p:blipFill>
        <p:spPr>
          <a:xfrm>
            <a:off x="3538753" y="3769232"/>
            <a:ext cx="4690846" cy="2184554"/>
          </a:xfrm>
          <a:prstGeom prst="rect">
            <a:avLst/>
          </a:prstGeom>
        </p:spPr>
      </p:pic>
    </p:spTree>
    <p:extLst>
      <p:ext uri="{BB962C8B-B14F-4D97-AF65-F5344CB8AC3E}">
        <p14:creationId xmlns:p14="http://schemas.microsoft.com/office/powerpoint/2010/main" val="3801456498"/>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261257"/>
            <a:ext cx="8596668" cy="1244600"/>
          </a:xfrm>
        </p:spPr>
        <p:txBody>
          <a:bodyPr/>
          <a:lstStyle/>
          <a:p>
            <a:pPr algn="ctr"/>
            <a:r>
              <a:rPr lang="en-US" b="1" u="sng" dirty="0" smtClean="0"/>
              <a:t>(</a:t>
            </a:r>
            <a:r>
              <a:rPr lang="en-US" b="1" u="sng" dirty="0" smtClean="0">
                <a:solidFill>
                  <a:schemeClr val="accent1">
                    <a:lumMod val="50000"/>
                  </a:schemeClr>
                </a:solidFill>
              </a:rPr>
              <a:t>BIOLOGICAL</a:t>
            </a:r>
            <a:r>
              <a:rPr lang="en-US" b="1" u="sng" dirty="0" smtClean="0"/>
              <a:t>)</a:t>
            </a:r>
            <a:br>
              <a:rPr lang="en-US" b="1" u="sng" dirty="0" smtClean="0"/>
            </a:br>
            <a:r>
              <a:rPr lang="en-US" b="1" u="sng" dirty="0" smtClean="0"/>
              <a:t>WATER –BORNE DISEASES</a:t>
            </a:r>
            <a:endParaRPr lang="en-US" b="1" u="sng" dirty="0"/>
          </a:p>
        </p:txBody>
      </p:sp>
      <p:sp>
        <p:nvSpPr>
          <p:cNvPr id="3" name="Content Placeholder 2"/>
          <p:cNvSpPr>
            <a:spLocks noGrp="1"/>
          </p:cNvSpPr>
          <p:nvPr>
            <p:ph idx="1"/>
          </p:nvPr>
        </p:nvSpPr>
        <p:spPr/>
        <p:txBody>
          <a:bodyPr>
            <a:noAutofit/>
          </a:bodyPr>
          <a:lstStyle/>
          <a:p>
            <a:r>
              <a:rPr lang="en-US" sz="2400" dirty="0"/>
              <a:t>Polluted water contains bacteria, viruses, and parasites that cause</a:t>
            </a:r>
            <a:r>
              <a:rPr lang="en-US" sz="2400" dirty="0" smtClean="0"/>
              <a:t>:</a:t>
            </a:r>
          </a:p>
          <a:p>
            <a:r>
              <a:rPr lang="en-US" sz="2400" dirty="0" smtClean="0"/>
              <a:t>Cholera</a:t>
            </a:r>
          </a:p>
          <a:p>
            <a:r>
              <a:rPr lang="en-US" sz="2400" dirty="0" smtClean="0"/>
              <a:t>Typhoid</a:t>
            </a:r>
          </a:p>
          <a:p>
            <a:r>
              <a:rPr lang="en-US" sz="2400" dirty="0" smtClean="0"/>
              <a:t>Dysentery</a:t>
            </a:r>
          </a:p>
          <a:p>
            <a:r>
              <a:rPr lang="en-US" sz="2400" dirty="0" smtClean="0"/>
              <a:t>Hepatitis A</a:t>
            </a:r>
          </a:p>
          <a:p>
            <a:r>
              <a:rPr lang="en-US" sz="2400" dirty="0" smtClean="0"/>
              <a:t>Diarrhea</a:t>
            </a:r>
          </a:p>
          <a:p>
            <a:r>
              <a:rPr lang="en-US" sz="2400" dirty="0" smtClean="0"/>
              <a:t>These </a:t>
            </a:r>
            <a:r>
              <a:rPr lang="en-US" sz="2400" dirty="0"/>
              <a:t>diseases spread mainly through drinking contaminated water</a:t>
            </a:r>
            <a:r>
              <a:rPr lang="en-US" sz="2400" dirty="0" smtClean="0"/>
              <a:t>.</a:t>
            </a:r>
          </a:p>
          <a:p>
            <a:endParaRPr lang="en-US" sz="2400" dirty="0"/>
          </a:p>
        </p:txBody>
      </p:sp>
    </p:spTree>
    <p:extLst>
      <p:ext uri="{BB962C8B-B14F-4D97-AF65-F5344CB8AC3E}">
        <p14:creationId xmlns:p14="http://schemas.microsoft.com/office/powerpoint/2010/main" val="1552161139"/>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u="sng" dirty="0" smtClean="0"/>
              <a:t>SKIN AND EYE PROBLEMS</a:t>
            </a:r>
            <a:endParaRPr lang="en-US" b="1" u="sng" dirty="0"/>
          </a:p>
        </p:txBody>
      </p:sp>
      <p:sp>
        <p:nvSpPr>
          <p:cNvPr id="3" name="Content Placeholder 2"/>
          <p:cNvSpPr>
            <a:spLocks noGrp="1"/>
          </p:cNvSpPr>
          <p:nvPr>
            <p:ph idx="1"/>
          </p:nvPr>
        </p:nvSpPr>
        <p:spPr>
          <a:xfrm>
            <a:off x="677334" y="1930400"/>
            <a:ext cx="8874880" cy="2509382"/>
          </a:xfrm>
        </p:spPr>
        <p:txBody>
          <a:bodyPr>
            <a:normAutofit/>
          </a:bodyPr>
          <a:lstStyle/>
          <a:p>
            <a:r>
              <a:rPr lang="en-US" sz="2400" dirty="0"/>
              <a:t>Bathing or washing in polluted water may cause</a:t>
            </a:r>
            <a:r>
              <a:rPr lang="en-US" sz="2400" dirty="0" smtClean="0"/>
              <a:t>:</a:t>
            </a:r>
          </a:p>
          <a:p>
            <a:r>
              <a:rPr lang="en-US" sz="2400" dirty="0" smtClean="0"/>
              <a:t>Skin rashes</a:t>
            </a:r>
          </a:p>
          <a:p>
            <a:r>
              <a:rPr lang="en-US" sz="2400" dirty="0" smtClean="0"/>
              <a:t>Allergies</a:t>
            </a:r>
          </a:p>
          <a:p>
            <a:r>
              <a:rPr lang="en-US" sz="2400" dirty="0" smtClean="0"/>
              <a:t>Eye </a:t>
            </a:r>
            <a:r>
              <a:rPr lang="en-US" sz="2400" dirty="0"/>
              <a:t>irritation</a:t>
            </a:r>
          </a:p>
        </p:txBody>
      </p:sp>
      <p:pic>
        <p:nvPicPr>
          <p:cNvPr id="4" name="Picture 3"/>
          <p:cNvPicPr>
            <a:picLocks noChangeAspect="1"/>
          </p:cNvPicPr>
          <p:nvPr/>
        </p:nvPicPr>
        <p:blipFill rotWithShape="1">
          <a:blip r:embed="rId2"/>
          <a:srcRect r="27869"/>
          <a:stretch/>
        </p:blipFill>
        <p:spPr>
          <a:xfrm>
            <a:off x="1796144" y="3902529"/>
            <a:ext cx="6449784" cy="2677885"/>
          </a:xfrm>
          <a:prstGeom prst="rect">
            <a:avLst/>
          </a:prstGeom>
        </p:spPr>
      </p:pic>
    </p:spTree>
    <p:extLst>
      <p:ext uri="{BB962C8B-B14F-4D97-AF65-F5344CB8AC3E}">
        <p14:creationId xmlns:p14="http://schemas.microsoft.com/office/powerpoint/2010/main" val="242208347"/>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u="sng" dirty="0" smtClean="0"/>
              <a:t>GASTROINTESTINAL PROBLEMS</a:t>
            </a:r>
            <a:endParaRPr lang="en-US" b="1" u="sng" dirty="0"/>
          </a:p>
        </p:txBody>
      </p:sp>
      <p:sp>
        <p:nvSpPr>
          <p:cNvPr id="3" name="Content Placeholder 2"/>
          <p:cNvSpPr>
            <a:spLocks noGrp="1"/>
          </p:cNvSpPr>
          <p:nvPr>
            <p:ph idx="1"/>
          </p:nvPr>
        </p:nvSpPr>
        <p:spPr/>
        <p:txBody>
          <a:bodyPr>
            <a:normAutofit/>
          </a:bodyPr>
          <a:lstStyle/>
          <a:p>
            <a:r>
              <a:rPr lang="en-US" sz="2400" dirty="0"/>
              <a:t>Contaminated water can cause</a:t>
            </a:r>
            <a:r>
              <a:rPr lang="en-US" sz="2400" dirty="0" smtClean="0"/>
              <a:t>:</a:t>
            </a:r>
          </a:p>
          <a:p>
            <a:r>
              <a:rPr lang="en-US" sz="2400" dirty="0" smtClean="0"/>
              <a:t>Vomiting</a:t>
            </a:r>
          </a:p>
          <a:p>
            <a:r>
              <a:rPr lang="en-US" sz="2400" dirty="0" smtClean="0"/>
              <a:t>Stomach Pain</a:t>
            </a:r>
          </a:p>
          <a:p>
            <a:r>
              <a:rPr lang="en-US" sz="2400" dirty="0" smtClean="0"/>
              <a:t>Indigestion</a:t>
            </a:r>
            <a:endParaRPr lang="en-US" sz="2400" dirty="0"/>
          </a:p>
        </p:txBody>
      </p:sp>
      <p:pic>
        <p:nvPicPr>
          <p:cNvPr id="4" name="Picture 3"/>
          <p:cNvPicPr>
            <a:picLocks noChangeAspect="1"/>
          </p:cNvPicPr>
          <p:nvPr/>
        </p:nvPicPr>
        <p:blipFill>
          <a:blip r:embed="rId2"/>
          <a:stretch>
            <a:fillRect/>
          </a:stretch>
        </p:blipFill>
        <p:spPr>
          <a:xfrm>
            <a:off x="1583871" y="4100975"/>
            <a:ext cx="6564086" cy="2599787"/>
          </a:xfrm>
          <a:prstGeom prst="rect">
            <a:avLst/>
          </a:prstGeom>
        </p:spPr>
      </p:pic>
    </p:spTree>
    <p:extLst>
      <p:ext uri="{BB962C8B-B14F-4D97-AF65-F5344CB8AC3E}">
        <p14:creationId xmlns:p14="http://schemas.microsoft.com/office/powerpoint/2010/main" val="3178460437"/>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u="sng" dirty="0" smtClean="0"/>
              <a:t>LONG-TERM DISEASES</a:t>
            </a:r>
            <a:endParaRPr lang="en-US" b="1" u="sng" dirty="0"/>
          </a:p>
        </p:txBody>
      </p:sp>
      <p:sp>
        <p:nvSpPr>
          <p:cNvPr id="3" name="Content Placeholder 2"/>
          <p:cNvSpPr>
            <a:spLocks noGrp="1"/>
          </p:cNvSpPr>
          <p:nvPr>
            <p:ph idx="1"/>
          </p:nvPr>
        </p:nvSpPr>
        <p:spPr/>
        <p:txBody>
          <a:bodyPr>
            <a:normAutofit/>
          </a:bodyPr>
          <a:lstStyle/>
          <a:p>
            <a:r>
              <a:rPr lang="en-US" sz="2400" dirty="0"/>
              <a:t>Continuous use of polluted water may lead to</a:t>
            </a:r>
            <a:r>
              <a:rPr lang="en-US" sz="2400" dirty="0" smtClean="0"/>
              <a:t>:</a:t>
            </a:r>
          </a:p>
          <a:p>
            <a:r>
              <a:rPr lang="en-US" sz="2400" dirty="0" smtClean="0"/>
              <a:t>Cancer </a:t>
            </a:r>
            <a:r>
              <a:rPr lang="en-US" sz="2400" dirty="0"/>
              <a:t>(due to toxic chemicals</a:t>
            </a:r>
            <a:r>
              <a:rPr lang="en-US" sz="2400" dirty="0" smtClean="0"/>
              <a:t>)</a:t>
            </a:r>
          </a:p>
          <a:p>
            <a:r>
              <a:rPr lang="en-US" sz="2400" dirty="0" smtClean="0"/>
              <a:t>Fluorosis </a:t>
            </a:r>
            <a:r>
              <a:rPr lang="en-US" sz="2400" dirty="0"/>
              <a:t>(excess fluoride</a:t>
            </a:r>
            <a:r>
              <a:rPr lang="en-US" sz="2400" dirty="0" smtClean="0"/>
              <a:t>)</a:t>
            </a:r>
          </a:p>
          <a:p>
            <a:r>
              <a:rPr lang="en-US" sz="2400" dirty="0" err="1" smtClean="0"/>
              <a:t>Arsenicosis</a:t>
            </a:r>
            <a:r>
              <a:rPr lang="en-US" sz="2400" dirty="0" smtClean="0"/>
              <a:t> </a:t>
            </a:r>
            <a:r>
              <a:rPr lang="en-US" sz="2400" dirty="0"/>
              <a:t>(arsenic contamination</a:t>
            </a:r>
            <a:r>
              <a:rPr lang="en-US" sz="2400" dirty="0" smtClean="0"/>
              <a:t>)</a:t>
            </a:r>
          </a:p>
          <a:p>
            <a:r>
              <a:rPr lang="en-US" sz="2400" dirty="0" smtClean="0"/>
              <a:t>Weak </a:t>
            </a:r>
            <a:r>
              <a:rPr lang="en-US" sz="2400" dirty="0"/>
              <a:t>immune system</a:t>
            </a:r>
          </a:p>
        </p:txBody>
      </p:sp>
    </p:spTree>
    <p:extLst>
      <p:ext uri="{BB962C8B-B14F-4D97-AF65-F5344CB8AC3E}">
        <p14:creationId xmlns:p14="http://schemas.microsoft.com/office/powerpoint/2010/main" val="1744904453"/>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u="sng" dirty="0" smtClean="0"/>
              <a:t>(</a:t>
            </a:r>
            <a:r>
              <a:rPr lang="en-US" b="1" u="sng" dirty="0" smtClean="0">
                <a:solidFill>
                  <a:schemeClr val="accent1">
                    <a:lumMod val="50000"/>
                  </a:schemeClr>
                </a:solidFill>
              </a:rPr>
              <a:t>CHEMICAL</a:t>
            </a:r>
            <a:r>
              <a:rPr lang="en-US" b="1" u="sng" dirty="0" smtClean="0"/>
              <a:t>)</a:t>
            </a:r>
            <a:endParaRPr lang="en-US" b="1" u="sng" dirty="0"/>
          </a:p>
        </p:txBody>
      </p:sp>
      <p:sp>
        <p:nvSpPr>
          <p:cNvPr id="3" name="Content Placeholder 2"/>
          <p:cNvSpPr>
            <a:spLocks noGrp="1"/>
          </p:cNvSpPr>
          <p:nvPr>
            <p:ph idx="1"/>
          </p:nvPr>
        </p:nvSpPr>
        <p:spPr>
          <a:xfrm>
            <a:off x="677333" y="1930400"/>
            <a:ext cx="7764537" cy="3880773"/>
          </a:xfrm>
        </p:spPr>
        <p:txBody>
          <a:bodyPr>
            <a:normAutofit/>
          </a:bodyPr>
          <a:lstStyle/>
          <a:p>
            <a:r>
              <a:rPr lang="en-US" sz="2400" dirty="0"/>
              <a:t>Industrial waste and agricultural chemicals mix with water and cause</a:t>
            </a:r>
            <a:r>
              <a:rPr lang="en-US" sz="2400" dirty="0" smtClean="0"/>
              <a:t>:</a:t>
            </a:r>
          </a:p>
          <a:p>
            <a:r>
              <a:rPr lang="en-US" sz="2400" dirty="0" smtClean="0"/>
              <a:t>Heavy </a:t>
            </a:r>
            <a:r>
              <a:rPr lang="en-US" sz="2400" dirty="0"/>
              <a:t>metal poisoning (lead, mercury, arsenic</a:t>
            </a:r>
            <a:r>
              <a:rPr lang="en-US" sz="2400" dirty="0" smtClean="0"/>
              <a:t>)</a:t>
            </a:r>
          </a:p>
          <a:p>
            <a:r>
              <a:rPr lang="en-US" sz="2400" dirty="0" smtClean="0"/>
              <a:t>Nerve damage</a:t>
            </a:r>
          </a:p>
          <a:p>
            <a:r>
              <a:rPr lang="en-US" sz="2400" dirty="0" smtClean="0"/>
              <a:t>Kidney </a:t>
            </a:r>
            <a:r>
              <a:rPr lang="en-US" sz="2400" dirty="0"/>
              <a:t>and liver </a:t>
            </a:r>
            <a:r>
              <a:rPr lang="en-US" sz="2400" dirty="0" smtClean="0"/>
              <a:t>problems</a:t>
            </a:r>
          </a:p>
          <a:p>
            <a:r>
              <a:rPr lang="en-US" sz="2400" dirty="0" smtClean="0"/>
              <a:t>Developmental </a:t>
            </a:r>
            <a:r>
              <a:rPr lang="en-US" sz="2400" dirty="0"/>
              <a:t>problems in children</a:t>
            </a:r>
          </a:p>
        </p:txBody>
      </p:sp>
    </p:spTree>
    <p:extLst>
      <p:ext uri="{BB962C8B-B14F-4D97-AF65-F5344CB8AC3E}">
        <p14:creationId xmlns:p14="http://schemas.microsoft.com/office/powerpoint/2010/main" val="723251585"/>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 name="Shape 65"/>
        <p:cNvGrpSpPr/>
        <p:nvPr/>
      </p:nvGrpSpPr>
      <p:grpSpPr>
        <a:xfrm>
          <a:off x="0" y="0"/>
          <a:ext cx="0" cy="0"/>
          <a:chOff x="0" y="0"/>
          <a:chExt cx="0" cy="0"/>
        </a:xfrm>
      </p:grpSpPr>
      <p:sp>
        <p:nvSpPr>
          <p:cNvPr id="66" name="Google Shape;66;p2"/>
          <p:cNvSpPr txBox="1"/>
          <p:nvPr>
            <p:ph type="title"/>
          </p:nvPr>
        </p:nvSpPr>
        <p:spPr>
          <a:xfrm>
            <a:off x="677334" y="609600"/>
            <a:ext cx="8596800" cy="1320900"/>
          </a:xfrm>
          <a:prstGeom prst="rect">
            <a:avLst/>
          </a:prstGeom>
          <a:noFill/>
          <a:ln>
            <a:noFill/>
          </a:ln>
        </p:spPr>
        <p:txBody>
          <a:bodyPr anchorCtr="0" anchor="t" bIns="45700" lIns="91425" spcFirstLastPara="1" rIns="91425" wrap="square" tIns="45700">
            <a:normAutofit/>
          </a:bodyPr>
          <a:lstStyle/>
          <a:p>
            <a:pPr indent="0" lvl="0" marL="0" rtl="0" algn="ctr">
              <a:spcBef>
                <a:spcPts val="0"/>
              </a:spcBef>
              <a:spcAft>
                <a:spcPts val="0"/>
              </a:spcAft>
              <a:buClr>
                <a:srgbClr val="0F7597"/>
              </a:buClr>
              <a:buSzPts val="3600"/>
              <a:buFont typeface="Trebuchet MS"/>
              <a:buNone/>
            </a:pPr>
            <a:r>
              <a:rPr b="1" lang="en-US" u="sng">
                <a:solidFill>
                  <a:srgbClr val="0F7597"/>
                </a:solidFill>
              </a:rPr>
              <a:t>In addition to the above, water is associated with the following:</a:t>
            </a:r>
            <a:endParaRPr/>
          </a:p>
        </p:txBody>
      </p:sp>
      <p:sp>
        <p:nvSpPr>
          <p:cNvPr id="67" name="Google Shape;67;p2"/>
          <p:cNvSpPr txBox="1"/>
          <p:nvPr>
            <p:ph idx="1" type="body"/>
          </p:nvPr>
        </p:nvSpPr>
        <p:spPr>
          <a:xfrm>
            <a:off x="677325" y="2160602"/>
            <a:ext cx="8596800" cy="4697400"/>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SzPts val="1920"/>
              <a:buAutoNum type="arabicPeriod"/>
            </a:pPr>
            <a:r>
              <a:rPr lang="en-US" sz="2400"/>
              <a:t>Dental health: The presence of fluoride at about 1 mg/litre in drinking water is known to protect against dental caries, but high levels of fluoride cause mottling of the dental enamel</a:t>
            </a:r>
            <a:endParaRPr/>
          </a:p>
          <a:p>
            <a:pPr indent="-342900" lvl="0" marL="342900" rtl="0" algn="l">
              <a:spcBef>
                <a:spcPts val="1000"/>
              </a:spcBef>
              <a:spcAft>
                <a:spcPts val="0"/>
              </a:spcAft>
              <a:buSzPts val="1920"/>
              <a:buAutoNum type="arabicPeriod"/>
            </a:pPr>
            <a:r>
              <a:rPr lang="en-US" sz="2400"/>
              <a:t> Cyanosis in infant: High nitrate content of water is associated with methemoglobinemia.</a:t>
            </a:r>
            <a:endParaRPr/>
          </a:p>
          <a:p>
            <a:pPr indent="-342900" lvl="0" marL="342900" rtl="0" algn="l">
              <a:spcBef>
                <a:spcPts val="1000"/>
              </a:spcBef>
              <a:spcAft>
                <a:spcPts val="0"/>
              </a:spcAft>
              <a:buSzPts val="1920"/>
              <a:buAutoNum type="arabicPeriod"/>
            </a:pPr>
            <a:r>
              <a:rPr lang="en-US" sz="2400"/>
              <a:t> Cardiovascular diseases: Hardness of water is beneficial for cardiovascular diseases.</a:t>
            </a:r>
            <a:endParaRPr/>
          </a:p>
          <a:p>
            <a:pPr indent="-342900" lvl="0" marL="342900" rtl="0" algn="l">
              <a:spcBef>
                <a:spcPts val="1000"/>
              </a:spcBef>
              <a:spcAft>
                <a:spcPts val="0"/>
              </a:spcAft>
              <a:buSzPts val="1920"/>
              <a:buAutoNum type="arabicPeriod"/>
            </a:pPr>
            <a:r>
              <a:rPr lang="en-US" sz="2400"/>
              <a:t> Some diseases are transmitted due to inadequate use of water like shigellosis, trachoma and conjunctivitis, ascariasis, scabies.</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u="sng" dirty="0" smtClean="0"/>
              <a:t>WATER POLLUTION LAW</a:t>
            </a:r>
            <a:endParaRPr lang="en-US" b="1" u="sng" dirty="0"/>
          </a:p>
        </p:txBody>
      </p:sp>
      <p:sp>
        <p:nvSpPr>
          <p:cNvPr id="3" name="Content Placeholder 2"/>
          <p:cNvSpPr>
            <a:spLocks noGrp="1"/>
          </p:cNvSpPr>
          <p:nvPr>
            <p:ph idx="1"/>
          </p:nvPr>
        </p:nvSpPr>
        <p:spPr>
          <a:xfrm>
            <a:off x="677334" y="2160589"/>
            <a:ext cx="7993137" cy="3880773"/>
          </a:xfrm>
        </p:spPr>
        <p:txBody>
          <a:bodyPr>
            <a:normAutofit/>
          </a:bodyPr>
          <a:lstStyle/>
          <a:p>
            <a:pPr algn="just"/>
            <a:r>
              <a:rPr lang="en-US" sz="2400" dirty="0"/>
              <a:t>The Water (Prevention and Control of Pollution) </a:t>
            </a:r>
            <a:r>
              <a:rPr lang="en-US" sz="2400" dirty="0" smtClean="0"/>
              <a:t>Act1974 </a:t>
            </a:r>
            <a:r>
              <a:rPr lang="en-US" sz="2400" dirty="0"/>
              <a:t>seeks to provide legal deterrent against the spread of water </a:t>
            </a:r>
            <a:r>
              <a:rPr lang="en-US" sz="2400" dirty="0" err="1" smtClean="0"/>
              <a:t>pollutioN</a:t>
            </a:r>
            <a:endParaRPr lang="en-US" sz="2400" dirty="0"/>
          </a:p>
        </p:txBody>
      </p:sp>
      <p:pic>
        <p:nvPicPr>
          <p:cNvPr id="4" name="Picture 3"/>
          <p:cNvPicPr>
            <a:picLocks noChangeAspect="1"/>
          </p:cNvPicPr>
          <p:nvPr/>
        </p:nvPicPr>
        <p:blipFill>
          <a:blip r:embed="rId2"/>
          <a:stretch>
            <a:fillRect/>
          </a:stretch>
        </p:blipFill>
        <p:spPr>
          <a:xfrm>
            <a:off x="2123611" y="3539899"/>
            <a:ext cx="5704114" cy="3010224"/>
          </a:xfrm>
          <a:prstGeom prst="rect">
            <a:avLst/>
          </a:prstGeom>
        </p:spPr>
      </p:pic>
    </p:spTree>
    <p:extLst>
      <p:ext uri="{BB962C8B-B14F-4D97-AF65-F5344CB8AC3E}">
        <p14:creationId xmlns:p14="http://schemas.microsoft.com/office/powerpoint/2010/main" val="1837989448"/>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u="sng" dirty="0" smtClean="0"/>
              <a:t>PREVNTION AND CONTROL MEASURES</a:t>
            </a:r>
            <a:endParaRPr lang="en-US" b="1" u="sng" dirty="0"/>
          </a:p>
        </p:txBody>
      </p:sp>
      <p:sp>
        <p:nvSpPr>
          <p:cNvPr id="3" name="Content Placeholder 2"/>
          <p:cNvSpPr>
            <a:spLocks noGrp="1"/>
          </p:cNvSpPr>
          <p:nvPr>
            <p:ph idx="1"/>
          </p:nvPr>
        </p:nvSpPr>
        <p:spPr/>
        <p:txBody>
          <a:bodyPr>
            <a:normAutofit/>
          </a:bodyPr>
          <a:lstStyle/>
          <a:p>
            <a:r>
              <a:rPr lang="en-US" sz="2400" dirty="0"/>
              <a:t>Treatment of </a:t>
            </a:r>
            <a:r>
              <a:rPr lang="en-US" sz="2400" dirty="0" smtClean="0"/>
              <a:t>Sewage </a:t>
            </a:r>
            <a:r>
              <a:rPr lang="en-US" sz="2400" dirty="0"/>
              <a:t>– Treat domestic wastewater in sewage treatment plants before </a:t>
            </a:r>
            <a:r>
              <a:rPr lang="en-US" sz="2400" dirty="0" err="1" smtClean="0"/>
              <a:t>discharge.I</a:t>
            </a:r>
            <a:endParaRPr lang="en-US" sz="2400" dirty="0" smtClean="0"/>
          </a:p>
          <a:p>
            <a:r>
              <a:rPr lang="en-US" sz="2400" dirty="0" err="1" smtClean="0"/>
              <a:t>ndustrial</a:t>
            </a:r>
            <a:r>
              <a:rPr lang="en-US" sz="2400" dirty="0" smtClean="0"/>
              <a:t> </a:t>
            </a:r>
            <a:r>
              <a:rPr lang="en-US" sz="2400" dirty="0"/>
              <a:t>Effluent Treatment – Industries must treat waste in Effluent Treatment Plants (ETPs) before releasing into rivers</a:t>
            </a:r>
            <a:r>
              <a:rPr lang="en-US" sz="2400" dirty="0" smtClean="0"/>
              <a:t>.</a:t>
            </a:r>
          </a:p>
          <a:p>
            <a:r>
              <a:rPr lang="en-US" sz="2400" dirty="0" smtClean="0"/>
              <a:t>Proper </a:t>
            </a:r>
            <a:r>
              <a:rPr lang="en-US" sz="2400" dirty="0"/>
              <a:t>Solid Waste Disposal – Avoid dumping garbage and plastics into water bodies</a:t>
            </a:r>
            <a:r>
              <a:rPr lang="en-US" sz="2400" dirty="0" smtClean="0"/>
              <a:t>.</a:t>
            </a:r>
          </a:p>
          <a:p>
            <a:r>
              <a:rPr lang="en-US" sz="2400" dirty="0" smtClean="0"/>
              <a:t>Reduce </a:t>
            </a:r>
            <a:r>
              <a:rPr lang="en-US" sz="2400" dirty="0"/>
              <a:t>Use of Chemical Fertilizers and Pesticides – Promote organic farming to prevent agricultural runoff.</a:t>
            </a:r>
          </a:p>
        </p:txBody>
      </p:sp>
    </p:spTree>
    <p:extLst>
      <p:ext uri="{BB962C8B-B14F-4D97-AF65-F5344CB8AC3E}">
        <p14:creationId xmlns:p14="http://schemas.microsoft.com/office/powerpoint/2010/main" val="162978812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u="sng" dirty="0" smtClean="0"/>
              <a:t>CONCLUSION</a:t>
            </a:r>
            <a:endParaRPr lang="en-US" b="1" u="sng" dirty="0"/>
          </a:p>
        </p:txBody>
      </p:sp>
      <p:sp>
        <p:nvSpPr>
          <p:cNvPr id="3" name="Content Placeholder 2"/>
          <p:cNvSpPr>
            <a:spLocks noGrp="1"/>
          </p:cNvSpPr>
          <p:nvPr>
            <p:ph idx="1"/>
          </p:nvPr>
        </p:nvSpPr>
        <p:spPr>
          <a:xfrm>
            <a:off x="677333" y="2160589"/>
            <a:ext cx="9005509" cy="3880773"/>
          </a:xfrm>
        </p:spPr>
        <p:txBody>
          <a:bodyPr>
            <a:normAutofit/>
          </a:bodyPr>
          <a:lstStyle/>
          <a:p>
            <a:r>
              <a:rPr lang="en-US" sz="2400" dirty="0"/>
              <a:t>Prevention and control of water pollution require combined efforts from the government, industries, and individuals. Proper waste treatment, reduced chemical use, awareness, and strict law enforcement are key to protecting water </a:t>
            </a:r>
            <a:r>
              <a:rPr lang="en-US" sz="2400" dirty="0" smtClean="0"/>
              <a:t>resources</a:t>
            </a:r>
          </a:p>
          <a:p>
            <a:r>
              <a:rPr lang="en-US" sz="2400" dirty="0" smtClean="0"/>
              <a:t>The effects </a:t>
            </a:r>
            <a:r>
              <a:rPr lang="en-US" sz="2400" dirty="0"/>
              <a:t>of water pollution include the spread of waterborne diseases, damage to ecosystems, loss of biodiversity, and long-term health problems in humans. If not controlled, it can lead to scarcity of clean and safe water for future </a:t>
            </a:r>
            <a:r>
              <a:rPr lang="en-US" sz="2400" dirty="0" smtClean="0"/>
              <a:t>generations.</a:t>
            </a:r>
            <a:endParaRPr lang="en-US" sz="2400" dirty="0"/>
          </a:p>
        </p:txBody>
      </p:sp>
    </p:spTree>
    <p:extLst>
      <p:ext uri="{BB962C8B-B14F-4D97-AF65-F5344CB8AC3E}">
        <p14:creationId xmlns:p14="http://schemas.microsoft.com/office/powerpoint/2010/main" val="379746221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342849" y="2634343"/>
            <a:ext cx="6817480" cy="1611086"/>
          </a:xfrm>
        </p:spPr>
        <p:txBody>
          <a:bodyPr>
            <a:normAutofit/>
          </a:bodyPr>
          <a:lstStyle/>
          <a:p>
            <a:r>
              <a:rPr lang="en-US" sz="9600" b="1" i="1" u="sng" dirty="0" smtClean="0"/>
              <a:t>THANKYOU</a:t>
            </a:r>
            <a:endParaRPr lang="en-US" sz="9600" b="1" i="1" u="sng" dirty="0"/>
          </a:p>
        </p:txBody>
      </p:sp>
    </p:spTree>
    <p:extLst>
      <p:ext uri="{BB962C8B-B14F-4D97-AF65-F5344CB8AC3E}">
        <p14:creationId xmlns:p14="http://schemas.microsoft.com/office/powerpoint/2010/main" val="2832848079"/>
      </p:ext>
    </p:extLst>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1"/>
          <p:cNvSpPr txBox="1"/>
          <p:nvPr>
            <p:ph type="title"/>
          </p:nvPr>
        </p:nvSpPr>
        <p:spPr>
          <a:xfrm flipH="1">
            <a:off x="1959100" y="326750"/>
            <a:ext cx="7314900" cy="813900"/>
          </a:xfrm>
          <a:prstGeom prst="rect">
            <a:avLst/>
          </a:prstGeom>
          <a:noFill/>
          <a:ln>
            <a:noFill/>
          </a:ln>
        </p:spPr>
        <p:txBody>
          <a:bodyPr anchorCtr="0" anchor="t" bIns="45700" lIns="91425" spcFirstLastPara="1" rIns="91425" wrap="square" tIns="45700">
            <a:normAutofit fontScale="90000"/>
          </a:bodyPr>
          <a:lstStyle/>
          <a:p>
            <a:pPr indent="0" lvl="0" marL="0" rtl="0" algn="l">
              <a:spcBef>
                <a:spcPts val="0"/>
              </a:spcBef>
              <a:spcAft>
                <a:spcPts val="0"/>
              </a:spcAft>
              <a:buClr>
                <a:schemeClr val="accent1"/>
              </a:buClr>
              <a:buSzPct val="100000"/>
              <a:buFont typeface="Trebuchet MS"/>
              <a:buNone/>
            </a:pPr>
            <a:r>
              <a:rPr lang="en-US"/>
              <a:t>RADHARAMAN AYURVEDIC MEDICAL COLLEGE and RESEARCH HOSPITAL RATIBAD BHOPAL </a:t>
            </a:r>
            <a:endParaRPr/>
          </a:p>
        </p:txBody>
      </p:sp>
      <p:sp>
        <p:nvSpPr>
          <p:cNvPr id="61" name="Google Shape;61;p1"/>
          <p:cNvSpPr txBox="1"/>
          <p:nvPr>
            <p:ph idx="1" type="body"/>
          </p:nvPr>
        </p:nvSpPr>
        <p:spPr>
          <a:xfrm>
            <a:off x="677325" y="3116550"/>
            <a:ext cx="4412700" cy="2925000"/>
          </a:xfrm>
          <a:prstGeom prst="rect">
            <a:avLst/>
          </a:prstGeom>
          <a:noFill/>
          <a:ln>
            <a:noFill/>
          </a:ln>
        </p:spPr>
        <p:txBody>
          <a:bodyPr anchorCtr="0" anchor="t" bIns="45700" lIns="91425" spcFirstLastPara="1" rIns="91425" wrap="square" tIns="45700">
            <a:normAutofit/>
          </a:bodyPr>
          <a:lstStyle/>
          <a:p>
            <a:pPr indent="0" lvl="0" marL="0" rtl="0" algn="l">
              <a:spcBef>
                <a:spcPts val="1000"/>
              </a:spcBef>
              <a:spcAft>
                <a:spcPts val="0"/>
              </a:spcAft>
              <a:buSzPts val="1440"/>
              <a:buNone/>
            </a:pPr>
            <a:r>
              <a:rPr lang="en-US"/>
              <a:t>Guided by </a:t>
            </a:r>
            <a:endParaRPr/>
          </a:p>
          <a:p>
            <a:pPr indent="0" lvl="0" marL="0" rtl="0" algn="l">
              <a:spcBef>
                <a:spcPts val="1000"/>
              </a:spcBef>
              <a:spcAft>
                <a:spcPts val="0"/>
              </a:spcAft>
              <a:buSzPts val="1440"/>
              <a:buNone/>
            </a:pPr>
            <a:r>
              <a:t/>
            </a:r>
            <a:endParaRPr/>
          </a:p>
          <a:p>
            <a:pPr indent="0" lvl="0" marL="0" rtl="0" algn="l">
              <a:spcBef>
                <a:spcPts val="1000"/>
              </a:spcBef>
              <a:spcAft>
                <a:spcPts val="0"/>
              </a:spcAft>
              <a:buSzPts val="1440"/>
              <a:buNone/>
            </a:pPr>
            <a:r>
              <a:rPr lang="en-US"/>
              <a:t>              Dr Paras Nath Paras</a:t>
            </a:r>
            <a:endParaRPr/>
          </a:p>
          <a:p>
            <a:pPr indent="0" lvl="0" marL="0" rtl="0" algn="l">
              <a:spcBef>
                <a:spcPts val="1000"/>
              </a:spcBef>
              <a:spcAft>
                <a:spcPts val="0"/>
              </a:spcAft>
              <a:buSzPts val="1440"/>
              <a:buNone/>
            </a:pPr>
            <a:r>
              <a:t/>
            </a:r>
            <a:endParaRPr/>
          </a:p>
          <a:p>
            <a:pPr indent="0" lvl="0" marL="0" rtl="0" algn="l">
              <a:spcBef>
                <a:spcPts val="1000"/>
              </a:spcBef>
              <a:spcAft>
                <a:spcPts val="0"/>
              </a:spcAft>
              <a:buSzPts val="1440"/>
              <a:buNone/>
            </a:pPr>
            <a:r>
              <a:rPr lang="en-US"/>
              <a:t>               ( HOD &amp; Professor)</a:t>
            </a:r>
            <a:endParaRPr/>
          </a:p>
        </p:txBody>
      </p:sp>
      <p:sp>
        <p:nvSpPr>
          <p:cNvPr id="62" name="Google Shape;62;p1"/>
          <p:cNvSpPr txBox="1"/>
          <p:nvPr>
            <p:ph idx="2" type="body"/>
          </p:nvPr>
        </p:nvSpPr>
        <p:spPr>
          <a:xfrm>
            <a:off x="5089975" y="3116400"/>
            <a:ext cx="4560000" cy="2925000"/>
          </a:xfrm>
          <a:prstGeom prst="rect">
            <a:avLst/>
          </a:prstGeom>
          <a:noFill/>
          <a:ln>
            <a:noFill/>
          </a:ln>
        </p:spPr>
        <p:txBody>
          <a:bodyPr anchorCtr="0" anchor="t" bIns="45700" lIns="91425" spcFirstLastPara="1" rIns="91425" wrap="square" tIns="45700">
            <a:normAutofit lnSpcReduction="20000"/>
          </a:bodyPr>
          <a:lstStyle/>
          <a:p>
            <a:pPr indent="0" lvl="0" marL="0" rtl="0" algn="l">
              <a:spcBef>
                <a:spcPts val="1000"/>
              </a:spcBef>
              <a:spcAft>
                <a:spcPts val="0"/>
              </a:spcAft>
              <a:buSzPts val="1440"/>
              <a:buNone/>
            </a:pPr>
            <a:r>
              <a:rPr lang="en-US"/>
              <a:t>Presented by </a:t>
            </a:r>
            <a:endParaRPr/>
          </a:p>
          <a:p>
            <a:pPr indent="0" lvl="0" marL="0" rtl="0" algn="l">
              <a:spcBef>
                <a:spcPts val="1000"/>
              </a:spcBef>
              <a:spcAft>
                <a:spcPts val="0"/>
              </a:spcAft>
              <a:buSzPts val="1440"/>
              <a:buNone/>
            </a:pPr>
            <a:r>
              <a:t/>
            </a:r>
            <a:endParaRPr/>
          </a:p>
          <a:p>
            <a:pPr indent="0" lvl="0" marL="0" rtl="0" algn="l">
              <a:spcBef>
                <a:spcPts val="1000"/>
              </a:spcBef>
              <a:spcAft>
                <a:spcPts val="0"/>
              </a:spcAft>
              <a:buSzPts val="1440"/>
              <a:buNone/>
            </a:pPr>
            <a:r>
              <a:rPr lang="en-US"/>
              <a:t>                    Mansi bhanjale </a:t>
            </a:r>
            <a:endParaRPr/>
          </a:p>
          <a:p>
            <a:pPr indent="0" lvl="0" marL="0" rtl="0" algn="l">
              <a:spcBef>
                <a:spcPts val="1000"/>
              </a:spcBef>
              <a:spcAft>
                <a:spcPts val="0"/>
              </a:spcAft>
              <a:buSzPts val="1440"/>
              <a:buNone/>
            </a:pPr>
            <a:r>
              <a:t/>
            </a:r>
            <a:endParaRPr/>
          </a:p>
          <a:p>
            <a:pPr indent="0" lvl="0" marL="0" rtl="0" algn="l">
              <a:spcBef>
                <a:spcPts val="1000"/>
              </a:spcBef>
              <a:spcAft>
                <a:spcPts val="0"/>
              </a:spcAft>
              <a:buSzPts val="1440"/>
              <a:buNone/>
            </a:pPr>
            <a:r>
              <a:rPr lang="en-US"/>
              <a:t>                    Roll no. 45</a:t>
            </a:r>
            <a:endParaRPr/>
          </a:p>
          <a:p>
            <a:pPr indent="0" lvl="0" marL="0" rtl="0" algn="l">
              <a:spcBef>
                <a:spcPts val="1000"/>
              </a:spcBef>
              <a:spcAft>
                <a:spcPts val="0"/>
              </a:spcAft>
              <a:buSzPts val="1440"/>
              <a:buNone/>
            </a:pPr>
            <a:r>
              <a:rPr lang="en-US"/>
              <a:t>        </a:t>
            </a:r>
            <a:endParaRPr/>
          </a:p>
          <a:p>
            <a:pPr indent="0" lvl="0" marL="0" rtl="0" algn="l">
              <a:spcBef>
                <a:spcPts val="1000"/>
              </a:spcBef>
              <a:spcAft>
                <a:spcPts val="0"/>
              </a:spcAft>
              <a:buSzPts val="1440"/>
              <a:buNone/>
            </a:pPr>
            <a:r>
              <a:rPr lang="en-US"/>
              <a:t>                     BAMS 2nd prof</a:t>
            </a:r>
            <a:endParaRPr/>
          </a:p>
          <a:p>
            <a:pPr indent="0" lvl="0" marL="0" rtl="0" algn="l">
              <a:spcBef>
                <a:spcPts val="1000"/>
              </a:spcBef>
              <a:spcAft>
                <a:spcPts val="0"/>
              </a:spcAft>
              <a:buSzPts val="1440"/>
              <a:buNone/>
            </a:pPr>
            <a:r>
              <a:rPr lang="en-US"/>
              <a:t>                     Batch-2023-24</a:t>
            </a:r>
            <a:endParaRPr/>
          </a:p>
        </p:txBody>
      </p:sp>
      <p:sp>
        <p:nvSpPr>
          <p:cNvPr id="63" name="Google Shape;63;p1"/>
          <p:cNvSpPr txBox="1"/>
          <p:nvPr/>
        </p:nvSpPr>
        <p:spPr>
          <a:xfrm>
            <a:off x="3663290" y="2135796"/>
            <a:ext cx="6255300" cy="4638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1" i="1" lang="en-US" sz="1800" u="sng" cap="none" strike="noStrike">
                <a:solidFill>
                  <a:srgbClr val="3F3F3F"/>
                </a:solidFill>
                <a:latin typeface="Trebuchet MS"/>
                <a:ea typeface="Trebuchet MS"/>
                <a:cs typeface="Trebuchet MS"/>
                <a:sym typeface="Trebuchet MS"/>
              </a:rPr>
              <a:t>Subject :-  Swastwrutt </a:t>
            </a:r>
            <a:endParaRPr b="1" i="1" sz="1800" u="sng" cap="none" strike="noStrike">
              <a:solidFill>
                <a:srgbClr val="3F3F3F"/>
              </a:solidFill>
              <a:latin typeface="Trebuchet MS"/>
              <a:ea typeface="Trebuchet MS"/>
              <a:cs typeface="Trebuchet MS"/>
              <a:sym typeface="Trebuchet MS"/>
            </a:endParaRPr>
          </a:p>
        </p:txBody>
      </p:sp>
      <p:pic>
        <p:nvPicPr>
          <p:cNvPr id="64" name="Google Shape;64;p1"/>
          <p:cNvPicPr preferRelativeResize="0"/>
          <p:nvPr/>
        </p:nvPicPr>
        <p:blipFill>
          <a:blip r:embed="rId3">
            <a:alphaModFix/>
          </a:blip>
          <a:stretch>
            <a:fillRect/>
          </a:stretch>
        </p:blipFill>
        <p:spPr>
          <a:xfrm>
            <a:off x="490222" y="326750"/>
            <a:ext cx="1468875" cy="1420150"/>
          </a:xfrm>
          <a:prstGeom prst="rect">
            <a:avLst/>
          </a:prstGeom>
          <a:noFill/>
          <a:ln>
            <a:noFill/>
          </a:ln>
        </p:spPr>
      </p:pic>
    </p:spTree>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